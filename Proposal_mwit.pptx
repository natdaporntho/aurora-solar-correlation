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78" r:id="rId5"/>
    <p:sldId id="279" r:id="rId6"/>
    <p:sldId id="280" r:id="rId7"/>
    <p:sldId id="283" r:id="rId8"/>
    <p:sldId id="282" r:id="rId9"/>
    <p:sldId id="285" r:id="rId10"/>
    <p:sldId id="286" r:id="rId11"/>
    <p:sldId id="287" r:id="rId12"/>
    <p:sldId id="259" r:id="rId13"/>
    <p:sldId id="275" r:id="rId14"/>
    <p:sldId id="261" r:id="rId15"/>
    <p:sldId id="262" r:id="rId16"/>
    <p:sldId id="290" r:id="rId17"/>
    <p:sldId id="269" r:id="rId18"/>
    <p:sldId id="271" r:id="rId19"/>
    <p:sldId id="267" r:id="rId20"/>
    <p:sldId id="272" r:id="rId21"/>
    <p:sldId id="263" r:id="rId22"/>
    <p:sldId id="264" r:id="rId23"/>
    <p:sldId id="284" r:id="rId24"/>
    <p:sldId id="265" r:id="rId25"/>
    <p:sldId id="274" r:id="rId26"/>
    <p:sldId id="277" r:id="rId27"/>
    <p:sldId id="270" r:id="rId28"/>
    <p:sldId id="273" r:id="rId29"/>
    <p:sldId id="288" r:id="rId30"/>
    <p:sldId id="289" r:id="rId31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DB0888-99EB-9C45-B5D2-659C8CFF852D}">
          <p14:sldIdLst>
            <p14:sldId id="256"/>
            <p14:sldId id="258"/>
            <p14:sldId id="257"/>
            <p14:sldId id="278"/>
            <p14:sldId id="279"/>
            <p14:sldId id="280"/>
            <p14:sldId id="283"/>
            <p14:sldId id="282"/>
            <p14:sldId id="285"/>
            <p14:sldId id="286"/>
            <p14:sldId id="287"/>
            <p14:sldId id="259"/>
            <p14:sldId id="275"/>
            <p14:sldId id="261"/>
            <p14:sldId id="262"/>
            <p14:sldId id="290"/>
            <p14:sldId id="269"/>
            <p14:sldId id="271"/>
            <p14:sldId id="267"/>
            <p14:sldId id="272"/>
            <p14:sldId id="263"/>
            <p14:sldId id="264"/>
            <p14:sldId id="284"/>
            <p14:sldId id="265"/>
            <p14:sldId id="274"/>
          </p14:sldIdLst>
        </p14:section>
        <p14:section name="Q&amp;A" id="{3C74CDCA-FEAD-3C4F-B881-8A9C75D69F3E}">
          <p14:sldIdLst>
            <p14:sldId id="277"/>
            <p14:sldId id="270"/>
            <p14:sldId id="273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90"/>
    <p:restoredTop sz="94625"/>
  </p:normalViewPr>
  <p:slideViewPr>
    <p:cSldViewPr snapToGrid="0">
      <p:cViewPr varScale="1">
        <p:scale>
          <a:sx n="147" d="100"/>
          <a:sy n="147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daporn Thongphan" userId="fcde0189-5d8b-4789-a3c9-d7a0db3f75f4" providerId="ADAL" clId="{C5BFF87A-02CF-F440-BC9E-9BFB8B66D905}"/>
    <pc:docChg chg="undo custSel addSld delSld modSld sldOrd addMainMaster delMainMaster modMainMaster addSection delSection modSection">
      <pc:chgData name="Natdaporn Thongphan" userId="fcde0189-5d8b-4789-a3c9-d7a0db3f75f4" providerId="ADAL" clId="{C5BFF87A-02CF-F440-BC9E-9BFB8B66D905}" dt="2025-07-30T07:31:14.903" v="8979" actId="20577"/>
      <pc:docMkLst>
        <pc:docMk/>
      </pc:docMkLst>
      <pc:sldChg chg="addSp delSp modSp mod ord setBg">
        <pc:chgData name="Natdaporn Thongphan" userId="fcde0189-5d8b-4789-a3c9-d7a0db3f75f4" providerId="ADAL" clId="{C5BFF87A-02CF-F440-BC9E-9BFB8B66D905}" dt="2025-07-27T12:46:35.099" v="8332"/>
        <pc:sldMkLst>
          <pc:docMk/>
          <pc:sldMk cId="2144110732" sldId="256"/>
        </pc:sldMkLst>
      </pc:sldChg>
      <pc:sldChg chg="addSp delSp modSp new mod ord setBg">
        <pc:chgData name="Natdaporn Thongphan" userId="fcde0189-5d8b-4789-a3c9-d7a0db3f75f4" providerId="ADAL" clId="{C5BFF87A-02CF-F440-BC9E-9BFB8B66D905}" dt="2025-07-23T09:19:17.418" v="6865" actId="20577"/>
        <pc:sldMkLst>
          <pc:docMk/>
          <pc:sldMk cId="1018809344" sldId="257"/>
        </pc:sldMkLst>
      </pc:sldChg>
      <pc:sldChg chg="addSp delSp modSp new mod ord setBg">
        <pc:chgData name="Natdaporn Thongphan" userId="fcde0189-5d8b-4789-a3c9-d7a0db3f75f4" providerId="ADAL" clId="{C5BFF87A-02CF-F440-BC9E-9BFB8B66D905}" dt="2025-07-22T11:56:24.011" v="5985"/>
        <pc:sldMkLst>
          <pc:docMk/>
          <pc:sldMk cId="1459415644" sldId="258"/>
        </pc:sldMkLst>
      </pc:sldChg>
      <pc:sldChg chg="addSp delSp modSp new mod ord setBg">
        <pc:chgData name="Natdaporn Thongphan" userId="fcde0189-5d8b-4789-a3c9-d7a0db3f75f4" providerId="ADAL" clId="{C5BFF87A-02CF-F440-BC9E-9BFB8B66D905}" dt="2025-07-23T15:33:01.510" v="8314" actId="208"/>
        <pc:sldMkLst>
          <pc:docMk/>
          <pc:sldMk cId="4146376529" sldId="259"/>
        </pc:sldMkLst>
      </pc:sldChg>
      <pc:sldChg chg="addSp delSp modSp new del mod ord setBg">
        <pc:chgData name="Natdaporn Thongphan" userId="fcde0189-5d8b-4789-a3c9-d7a0db3f75f4" providerId="ADAL" clId="{C5BFF87A-02CF-F440-BC9E-9BFB8B66D905}" dt="2025-07-21T15:59:37.721" v="3010" actId="2696"/>
        <pc:sldMkLst>
          <pc:docMk/>
          <pc:sldMk cId="1174503981" sldId="260"/>
        </pc:sldMkLst>
      </pc:sldChg>
      <pc:sldChg chg="addSp delSp modSp new mod setBg">
        <pc:chgData name="Natdaporn Thongphan" userId="fcde0189-5d8b-4789-a3c9-d7a0db3f75f4" providerId="ADAL" clId="{C5BFF87A-02CF-F440-BC9E-9BFB8B66D905}" dt="2025-07-30T07:31:14.903" v="8979" actId="20577"/>
        <pc:sldMkLst>
          <pc:docMk/>
          <pc:sldMk cId="1745985021" sldId="261"/>
        </pc:sldMkLst>
      </pc:sldChg>
      <pc:sldChg chg="addSp delSp modSp new mod setBg modNotesTx">
        <pc:chgData name="Natdaporn Thongphan" userId="fcde0189-5d8b-4789-a3c9-d7a0db3f75f4" providerId="ADAL" clId="{C5BFF87A-02CF-F440-BC9E-9BFB8B66D905}" dt="2025-07-30T07:30:59.080" v="8949" actId="207"/>
        <pc:sldMkLst>
          <pc:docMk/>
          <pc:sldMk cId="701252637" sldId="262"/>
        </pc:sldMkLst>
      </pc:sldChg>
      <pc:sldChg chg="addSp delSp modSp new mod setBg">
        <pc:chgData name="Natdaporn Thongphan" userId="fcde0189-5d8b-4789-a3c9-d7a0db3f75f4" providerId="ADAL" clId="{C5BFF87A-02CF-F440-BC9E-9BFB8B66D905}" dt="2025-07-30T07:29:54.312" v="8945" actId="207"/>
        <pc:sldMkLst>
          <pc:docMk/>
          <pc:sldMk cId="3996542135" sldId="263"/>
        </pc:sldMkLst>
      </pc:sldChg>
      <pc:sldChg chg="addSp delSp modSp new mod setBg modNotesTx">
        <pc:chgData name="Natdaporn Thongphan" userId="fcde0189-5d8b-4789-a3c9-d7a0db3f75f4" providerId="ADAL" clId="{C5BFF87A-02CF-F440-BC9E-9BFB8B66D905}" dt="2025-07-23T08:55:37.027" v="6772" actId="20577"/>
        <pc:sldMkLst>
          <pc:docMk/>
          <pc:sldMk cId="2326134874" sldId="264"/>
        </pc:sldMkLst>
      </pc:sldChg>
      <pc:sldChg chg="addSp delSp modSp new mod">
        <pc:chgData name="Natdaporn Thongphan" userId="fcde0189-5d8b-4789-a3c9-d7a0db3f75f4" providerId="ADAL" clId="{C5BFF87A-02CF-F440-BC9E-9BFB8B66D905}" dt="2025-07-22T11:56:24.011" v="5985"/>
        <pc:sldMkLst>
          <pc:docMk/>
          <pc:sldMk cId="3346900230" sldId="265"/>
        </pc:sldMkLst>
      </pc:sldChg>
      <pc:sldChg chg="addSp modSp add del ord setBg">
        <pc:chgData name="Natdaporn Thongphan" userId="fcde0189-5d8b-4789-a3c9-d7a0db3f75f4" providerId="ADAL" clId="{C5BFF87A-02CF-F440-BC9E-9BFB8B66D905}" dt="2025-07-21T15:56:35.680" v="2983" actId="2696"/>
        <pc:sldMkLst>
          <pc:docMk/>
          <pc:sldMk cId="2926501021" sldId="266"/>
        </pc:sldMkLst>
      </pc:sldChg>
      <pc:sldChg chg="addSp delSp modSp add mod setBg">
        <pc:chgData name="Natdaporn Thongphan" userId="fcde0189-5d8b-4789-a3c9-d7a0db3f75f4" providerId="ADAL" clId="{C5BFF87A-02CF-F440-BC9E-9BFB8B66D905}" dt="2025-07-23T13:37:24.680" v="7721" actId="478"/>
        <pc:sldMkLst>
          <pc:docMk/>
          <pc:sldMk cId="2637084515" sldId="267"/>
        </pc:sldMkLst>
      </pc:sldChg>
      <pc:sldChg chg="add del">
        <pc:chgData name="Natdaporn Thongphan" userId="fcde0189-5d8b-4789-a3c9-d7a0db3f75f4" providerId="ADAL" clId="{C5BFF87A-02CF-F440-BC9E-9BFB8B66D905}" dt="2025-07-21T15:01:33.519" v="2363" actId="2696"/>
        <pc:sldMkLst>
          <pc:docMk/>
          <pc:sldMk cId="240639307" sldId="268"/>
        </pc:sldMkLst>
      </pc:sldChg>
      <pc:sldChg chg="addSp delSp modSp add mod ord setBg">
        <pc:chgData name="Natdaporn Thongphan" userId="fcde0189-5d8b-4789-a3c9-d7a0db3f75f4" providerId="ADAL" clId="{C5BFF87A-02CF-F440-BC9E-9BFB8B66D905}" dt="2025-07-23T09:52:36.421" v="7177" actId="1076"/>
        <pc:sldMkLst>
          <pc:docMk/>
          <pc:sldMk cId="3824975011" sldId="269"/>
        </pc:sldMkLst>
      </pc:sldChg>
      <pc:sldChg chg="addSp delSp modSp add mod ord setBg">
        <pc:chgData name="Natdaporn Thongphan" userId="fcde0189-5d8b-4789-a3c9-d7a0db3f75f4" providerId="ADAL" clId="{C5BFF87A-02CF-F440-BC9E-9BFB8B66D905}" dt="2025-07-22T11:56:24.011" v="5985"/>
        <pc:sldMkLst>
          <pc:docMk/>
          <pc:sldMk cId="437804272" sldId="270"/>
        </pc:sldMkLst>
      </pc:sldChg>
      <pc:sldChg chg="addSp delSp modSp add mod ord setBg modNotesTx">
        <pc:chgData name="Natdaporn Thongphan" userId="fcde0189-5d8b-4789-a3c9-d7a0db3f75f4" providerId="ADAL" clId="{C5BFF87A-02CF-F440-BC9E-9BFB8B66D905}" dt="2025-07-23T09:52:44.492" v="7180" actId="478"/>
        <pc:sldMkLst>
          <pc:docMk/>
          <pc:sldMk cId="3810630105" sldId="271"/>
        </pc:sldMkLst>
      </pc:sldChg>
      <pc:sldChg chg="addSp delSp modSp add mod setBg modNotesTx">
        <pc:chgData name="Natdaporn Thongphan" userId="fcde0189-5d8b-4789-a3c9-d7a0db3f75f4" providerId="ADAL" clId="{C5BFF87A-02CF-F440-BC9E-9BFB8B66D905}" dt="2025-07-30T07:30:15.519" v="8946" actId="20577"/>
        <pc:sldMkLst>
          <pc:docMk/>
          <pc:sldMk cId="984859185" sldId="272"/>
        </pc:sldMkLst>
      </pc:sldChg>
      <pc:sldChg chg="addSp delSp modSp add mod setBg">
        <pc:chgData name="Natdaporn Thongphan" userId="fcde0189-5d8b-4789-a3c9-d7a0db3f75f4" providerId="ADAL" clId="{C5BFF87A-02CF-F440-BC9E-9BFB8B66D905}" dt="2025-07-23T07:12:44.264" v="6056" actId="1076"/>
        <pc:sldMkLst>
          <pc:docMk/>
          <pc:sldMk cId="4045250608" sldId="273"/>
        </pc:sldMkLst>
      </pc:sldChg>
      <pc:sldChg chg="addSp delSp modSp add mod ord setBg">
        <pc:chgData name="Natdaporn Thongphan" userId="fcde0189-5d8b-4789-a3c9-d7a0db3f75f4" providerId="ADAL" clId="{C5BFF87A-02CF-F440-BC9E-9BFB8B66D905}" dt="2025-07-22T11:54:18.916" v="5963" actId="113"/>
        <pc:sldMkLst>
          <pc:docMk/>
          <pc:sldMk cId="73374092" sldId="274"/>
        </pc:sldMkLst>
      </pc:sldChg>
      <pc:sldChg chg="addSp delSp modSp add mod ord setBg">
        <pc:chgData name="Natdaporn Thongphan" userId="fcde0189-5d8b-4789-a3c9-d7a0db3f75f4" providerId="ADAL" clId="{C5BFF87A-02CF-F440-BC9E-9BFB8B66D905}" dt="2025-07-22T11:56:24.011" v="5985"/>
        <pc:sldMkLst>
          <pc:docMk/>
          <pc:sldMk cId="3480799577" sldId="275"/>
        </pc:sldMkLst>
      </pc:sldChg>
      <pc:sldChg chg="add del">
        <pc:chgData name="Natdaporn Thongphan" userId="fcde0189-5d8b-4789-a3c9-d7a0db3f75f4" providerId="ADAL" clId="{C5BFF87A-02CF-F440-BC9E-9BFB8B66D905}" dt="2025-07-21T16:02:24.220" v="3016" actId="2696"/>
        <pc:sldMkLst>
          <pc:docMk/>
          <pc:sldMk cId="3005428692" sldId="276"/>
        </pc:sldMkLst>
      </pc:sldChg>
      <pc:sldChg chg="addSp delSp modSp add del ord">
        <pc:chgData name="Natdaporn Thongphan" userId="fcde0189-5d8b-4789-a3c9-d7a0db3f75f4" providerId="ADAL" clId="{C5BFF87A-02CF-F440-BC9E-9BFB8B66D905}" dt="2025-07-22T11:56:24.011" v="5985"/>
        <pc:sldMkLst>
          <pc:docMk/>
          <pc:sldMk cId="2513058083" sldId="277"/>
        </pc:sldMkLst>
      </pc:sldChg>
      <pc:sldChg chg="addSp delSp modSp add mod ord">
        <pc:chgData name="Natdaporn Thongphan" userId="fcde0189-5d8b-4789-a3c9-d7a0db3f75f4" providerId="ADAL" clId="{C5BFF87A-02CF-F440-BC9E-9BFB8B66D905}" dt="2025-07-23T10:00:21.426" v="7311" actId="20577"/>
        <pc:sldMkLst>
          <pc:docMk/>
          <pc:sldMk cId="2485824865" sldId="278"/>
        </pc:sldMkLst>
      </pc:sldChg>
      <pc:sldChg chg="addSp delSp modSp add mod ord">
        <pc:chgData name="Natdaporn Thongphan" userId="fcde0189-5d8b-4789-a3c9-d7a0db3f75f4" providerId="ADAL" clId="{C5BFF87A-02CF-F440-BC9E-9BFB8B66D905}" dt="2025-07-23T09:12:47.176" v="6816" actId="20577"/>
        <pc:sldMkLst>
          <pc:docMk/>
          <pc:sldMk cId="2655872753" sldId="279"/>
        </pc:sldMkLst>
      </pc:sldChg>
      <pc:sldChg chg="addSp delSp modSp add mod ord modNotesTx">
        <pc:chgData name="Natdaporn Thongphan" userId="fcde0189-5d8b-4789-a3c9-d7a0db3f75f4" providerId="ADAL" clId="{C5BFF87A-02CF-F440-BC9E-9BFB8B66D905}" dt="2025-07-23T10:00:37.491" v="7325" actId="20577"/>
        <pc:sldMkLst>
          <pc:docMk/>
          <pc:sldMk cId="995195952" sldId="280"/>
        </pc:sldMkLst>
      </pc:sldChg>
      <pc:sldChg chg="modSp add del mod ord">
        <pc:chgData name="Natdaporn Thongphan" userId="fcde0189-5d8b-4789-a3c9-d7a0db3f75f4" providerId="ADAL" clId="{C5BFF87A-02CF-F440-BC9E-9BFB8B66D905}" dt="2025-07-22T10:31:58.520" v="5550" actId="2696"/>
        <pc:sldMkLst>
          <pc:docMk/>
          <pc:sldMk cId="1831483078" sldId="281"/>
        </pc:sldMkLst>
      </pc:sldChg>
      <pc:sldChg chg="addSp delSp modSp add mod ord setBg">
        <pc:chgData name="Natdaporn Thongphan" userId="fcde0189-5d8b-4789-a3c9-d7a0db3f75f4" providerId="ADAL" clId="{C5BFF87A-02CF-F440-BC9E-9BFB8B66D905}" dt="2025-07-23T10:01:22.196" v="7392" actId="20577"/>
        <pc:sldMkLst>
          <pc:docMk/>
          <pc:sldMk cId="727535054" sldId="282"/>
        </pc:sldMkLst>
      </pc:sldChg>
      <pc:sldChg chg="addSp delSp modSp add mod ord setBg">
        <pc:chgData name="Natdaporn Thongphan" userId="fcde0189-5d8b-4789-a3c9-d7a0db3f75f4" providerId="ADAL" clId="{C5BFF87A-02CF-F440-BC9E-9BFB8B66D905}" dt="2025-07-23T10:02:08.532" v="7393" actId="255"/>
        <pc:sldMkLst>
          <pc:docMk/>
          <pc:sldMk cId="664974735" sldId="283"/>
        </pc:sldMkLst>
      </pc:sldChg>
      <pc:sldChg chg="addSp delSp modSp add mod">
        <pc:chgData name="Natdaporn Thongphan" userId="fcde0189-5d8b-4789-a3c9-d7a0db3f75f4" providerId="ADAL" clId="{C5BFF87A-02CF-F440-BC9E-9BFB8B66D905}" dt="2025-07-22T11:56:24.011" v="5985"/>
        <pc:sldMkLst>
          <pc:docMk/>
          <pc:sldMk cId="3016633282" sldId="284"/>
        </pc:sldMkLst>
      </pc:sldChg>
      <pc:sldChg chg="addSp delSp modSp add mod">
        <pc:chgData name="Natdaporn Thongphan" userId="fcde0189-5d8b-4789-a3c9-d7a0db3f75f4" providerId="ADAL" clId="{C5BFF87A-02CF-F440-BC9E-9BFB8B66D905}" dt="2025-07-30T07:29:10.212" v="8944" actId="14100"/>
        <pc:sldMkLst>
          <pc:docMk/>
          <pc:sldMk cId="4193743044" sldId="285"/>
        </pc:sldMkLst>
      </pc:sldChg>
      <pc:sldChg chg="addSp delSp modSp add mod">
        <pc:chgData name="Natdaporn Thongphan" userId="fcde0189-5d8b-4789-a3c9-d7a0db3f75f4" providerId="ADAL" clId="{C5BFF87A-02CF-F440-BC9E-9BFB8B66D905}" dt="2025-07-23T15:12:34.681" v="7921" actId="1076"/>
        <pc:sldMkLst>
          <pc:docMk/>
          <pc:sldMk cId="1212212234" sldId="286"/>
        </pc:sldMkLst>
      </pc:sldChg>
      <pc:sldChg chg="addSp delSp modSp add mod">
        <pc:chgData name="Natdaporn Thongphan" userId="fcde0189-5d8b-4789-a3c9-d7a0db3f75f4" providerId="ADAL" clId="{C5BFF87A-02CF-F440-BC9E-9BFB8B66D905}" dt="2025-07-23T15:29:47.513" v="8309" actId="1076"/>
        <pc:sldMkLst>
          <pc:docMk/>
          <pc:sldMk cId="1782057097" sldId="287"/>
        </pc:sldMkLst>
      </pc:sldChg>
      <pc:sldChg chg="addSp delSp modSp add mod">
        <pc:chgData name="Natdaporn Thongphan" userId="fcde0189-5d8b-4789-a3c9-d7a0db3f75f4" providerId="ADAL" clId="{C5BFF87A-02CF-F440-BC9E-9BFB8B66D905}" dt="2025-07-23T07:24:55.013" v="6362" actId="20577"/>
        <pc:sldMkLst>
          <pc:docMk/>
          <pc:sldMk cId="3968661297" sldId="288"/>
        </pc:sldMkLst>
      </pc:sldChg>
      <pc:sldChg chg="addSp delSp modSp add mod">
        <pc:chgData name="Natdaporn Thongphan" userId="fcde0189-5d8b-4789-a3c9-d7a0db3f75f4" providerId="ADAL" clId="{C5BFF87A-02CF-F440-BC9E-9BFB8B66D905}" dt="2025-07-23T07:28:48.932" v="6449" actId="20577"/>
        <pc:sldMkLst>
          <pc:docMk/>
          <pc:sldMk cId="3306938424" sldId="289"/>
        </pc:sldMkLst>
      </pc:sldChg>
      <pc:sldChg chg="addSp delSp modSp add mod">
        <pc:chgData name="Natdaporn Thongphan" userId="fcde0189-5d8b-4789-a3c9-d7a0db3f75f4" providerId="ADAL" clId="{C5BFF87A-02CF-F440-BC9E-9BFB8B66D905}" dt="2025-07-27T12:44:25.654" v="8316" actId="1582"/>
        <pc:sldMkLst>
          <pc:docMk/>
          <pc:sldMk cId="1129657086" sldId="290"/>
        </pc:sldMkLst>
      </pc:sldChg>
      <pc:sldMasterChg chg="modSp mod setBg modSldLayout">
        <pc:chgData name="Natdaporn Thongphan" userId="fcde0189-5d8b-4789-a3c9-d7a0db3f75f4" providerId="ADAL" clId="{C5BFF87A-02CF-F440-BC9E-9BFB8B66D905}" dt="2025-07-23T07:12:08.925" v="6051"/>
        <pc:sldMasterMkLst>
          <pc:docMk/>
          <pc:sldMasterMk cId="110706806" sldId="2147483648"/>
        </pc:sldMasterMkLst>
        <pc:sldLayoutChg chg="addSp delSp modSp mod 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757776690" sldId="2147483649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37310623" sldId="2147483650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3940541084" sldId="2147483651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3299425191" sldId="2147483652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2747832911" sldId="2147483653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4096482090" sldId="2147483654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2171856883" sldId="2147483655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2171841741" sldId="2147483656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1304837795" sldId="2147483657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1503427075" sldId="2147483658"/>
          </pc:sldLayoutMkLst>
        </pc:sldLayoutChg>
        <pc:sldLayoutChg chg="setBg">
          <pc:chgData name="Natdaporn Thongphan" userId="fcde0189-5d8b-4789-a3c9-d7a0db3f75f4" providerId="ADAL" clId="{C5BFF87A-02CF-F440-BC9E-9BFB8B66D905}" dt="2025-07-23T07:12:08.925" v="6051"/>
          <pc:sldLayoutMkLst>
            <pc:docMk/>
            <pc:sldMasterMk cId="110706806" sldId="2147483648"/>
            <pc:sldLayoutMk cId="790167492" sldId="2147483659"/>
          </pc:sldLayoutMkLst>
        </pc:sldLayoutChg>
      </pc:sldMasterChg>
      <pc:sldMasterChg chg="new del mod addSldLayout delSldLayout">
        <pc:chgData name="Natdaporn Thongphan" userId="fcde0189-5d8b-4789-a3c9-d7a0db3f75f4" providerId="ADAL" clId="{C5BFF87A-02CF-F440-BC9E-9BFB8B66D905}" dt="2025-07-22T11:56:06.278" v="5983" actId="6938"/>
        <pc:sldMasterMkLst>
          <pc:docMk/>
          <pc:sldMasterMk cId="2030118872" sldId="2147483660"/>
        </pc:sldMasterMkLst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1379872632" sldId="2147483661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726246513" sldId="2147483662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507551656" sldId="2147483663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585503929" sldId="2147483664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4177391496" sldId="2147483665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604208500" sldId="2147483666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054101926" sldId="2147483667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151915363" sldId="2147483668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43390395" sldId="2147483669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1590928891" sldId="2147483670"/>
          </pc:sldLayoutMkLst>
        </pc:sldLayoutChg>
        <pc:sldLayoutChg chg="new del replId">
          <pc:chgData name="Natdaporn Thongphan" userId="fcde0189-5d8b-4789-a3c9-d7a0db3f75f4" providerId="ADAL" clId="{C5BFF87A-02CF-F440-BC9E-9BFB8B66D905}" dt="2025-07-22T11:56:06.278" v="5983" actId="6938"/>
          <pc:sldLayoutMkLst>
            <pc:docMk/>
            <pc:sldMasterMk cId="2030118872" sldId="2147483660"/>
            <pc:sldLayoutMk cId="2394114343" sldId="2147483671"/>
          </pc:sldLayoutMkLst>
        </pc:sldLayoutChg>
      </pc:sldMasterChg>
    </pc:docChg>
  </pc:docChgLst>
  <pc:docChgLst>
    <pc:chgData name="Natdaporn Thongphan" userId="fcde0189-5d8b-4789-a3c9-d7a0db3f75f4" providerId="ADAL" clId="{DC0AA4B4-6294-51F7-8332-4A5DDB67891E}"/>
    <pc:docChg chg="undo custSel modSld">
      <pc:chgData name="Natdaporn Thongphan" userId="fcde0189-5d8b-4789-a3c9-d7a0db3f75f4" providerId="ADAL" clId="{DC0AA4B4-6294-51F7-8332-4A5DDB67891E}" dt="2025-09-26T07:44:48.727" v="1" actId="20577"/>
      <pc:docMkLst>
        <pc:docMk/>
      </pc:docMkLst>
      <pc:sldChg chg="modSp mod">
        <pc:chgData name="Natdaporn Thongphan" userId="fcde0189-5d8b-4789-a3c9-d7a0db3f75f4" providerId="ADAL" clId="{DC0AA4B4-6294-51F7-8332-4A5DDB67891E}" dt="2025-09-26T07:44:48.727" v="1" actId="20577"/>
        <pc:sldMkLst>
          <pc:docMk/>
          <pc:sldMk cId="701252637" sldId="262"/>
        </pc:sldMkLst>
        <pc:spChg chg="mod">
          <ac:chgData name="Natdaporn Thongphan" userId="fcde0189-5d8b-4789-a3c9-d7a0db3f75f4" providerId="ADAL" clId="{DC0AA4B4-6294-51F7-8332-4A5DDB67891E}" dt="2025-09-26T07:44:48.727" v="1" actId="20577"/>
          <ac:spMkLst>
            <pc:docMk/>
            <pc:sldMk cId="701252637" sldId="262"/>
            <ac:spMk id="3" creationId="{C9BA06C7-3957-434B-479F-76FFB2F864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FB892-F14D-C446-AA29-CA27927F35B4}" type="datetimeFigureOut">
              <a:rPr lang="en-TH" smtClean="0"/>
              <a:t>26/9/2025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74C02-39EB-F645-840D-98AD859326F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8400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74C02-39EB-F645-840D-98AD859326FD}" type="slidenum">
              <a:rPr lang="en-TH" smtClean="0"/>
              <a:t>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67751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H" dirty="0"/>
              <a:t>Correlation </a:t>
            </a:r>
            <a:r>
              <a:rPr lang="th-TH" dirty="0"/>
              <a:t>มีกี่แบบ บอกสักแบบนึงละบอกเหตุผลให้เขา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74C02-39EB-F645-840D-98AD859326FD}" type="slidenum">
              <a:rPr lang="en-TH" smtClean="0"/>
              <a:t>15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89535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82E1-08E0-6BA8-F73D-06DA85EA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A4507-2384-222A-DDA8-0BFF699BB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72A94-75F0-9B35-5F1A-7E7C8C36F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H" dirty="0"/>
              <a:t>Correlation </a:t>
            </a:r>
            <a:r>
              <a:rPr lang="th-TH" dirty="0"/>
              <a:t>มีกี่แบบ บอกสักแบบนึงละบอกเหตุผลให้เขา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89540-8E59-D384-4B89-99858E5B6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74C02-39EB-F645-840D-98AD859326FD}" type="slidenum">
              <a:rPr lang="en-TH" smtClean="0"/>
              <a:t>16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22234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999 </a:t>
            </a:r>
            <a:r>
              <a:rPr lang="th-TH" dirty="0"/>
              <a:t>คือไม่มีข้อมูล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74C02-39EB-F645-840D-98AD859326FD}" type="slidenum">
              <a:rPr lang="en-TH" smtClean="0"/>
              <a:t>18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27492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อธิบายว่ากราฟไรคือกราฟไร บอกแค</a:t>
            </a:r>
            <a:r>
              <a:rPr lang="th-TH" dirty="0" err="1"/>
              <a:t>ปชั่น</a:t>
            </a:r>
            <a:r>
              <a:rPr lang="th-TH" dirty="0"/>
              <a:t> </a:t>
            </a:r>
            <a:r>
              <a:rPr lang="th-TH" dirty="0" err="1"/>
              <a:t>เบเบล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74C02-39EB-F645-840D-98AD859326FD}" type="slidenum">
              <a:rPr lang="en-TH" smtClean="0"/>
              <a:t>20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40152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สามารถนำผลมาสร้างแบบจำลอง (ไม่ได้สร</a:t>
            </a:r>
            <a:r>
              <a:rPr lang="th-TH" dirty="0" err="1"/>
              <a:t>้า</a:t>
            </a:r>
            <a:r>
              <a:rPr lang="th-TH" dirty="0"/>
              <a:t>งำ</a:t>
            </a:r>
            <a:r>
              <a:rPr lang="th-TH" dirty="0" err="1"/>
              <a:t>ด้</a:t>
            </a:r>
            <a:r>
              <a:rPr lang="th-TH" dirty="0"/>
              <a:t>ในตอนนี้)</a:t>
            </a:r>
            <a:r>
              <a:rPr lang="th-TH" dirty="0" err="1"/>
              <a:t>ง</a:t>
            </a:r>
            <a:endParaRPr lang="th-TH" dirty="0"/>
          </a:p>
          <a:p>
            <a:r>
              <a:rPr lang="en-US" dirty="0" err="1"/>
              <a:t>Solr</a:t>
            </a:r>
            <a:r>
              <a:rPr lang="en-US" dirty="0"/>
              <a:t> index</a:t>
            </a:r>
            <a:r>
              <a:rPr lang="th-TH" dirty="0"/>
              <a:t> มาก่อน?</a:t>
            </a:r>
          </a:p>
          <a:p>
            <a:r>
              <a:rPr lang="en-US" dirty="0"/>
              <a:t>NM 4 </a:t>
            </a:r>
            <a:r>
              <a:rPr lang="th-TH" dirty="0"/>
              <a:t>สถานี อยู่คนละละติจูด 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74C02-39EB-F645-840D-98AD859326FD}" type="slidenum">
              <a:rPr lang="en-TH" smtClean="0"/>
              <a:t>22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41752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6E9E-99E7-3275-D188-9E13ADA01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72E60-2842-F9B2-2987-CC5D001FA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05F85-77DF-1037-1BD2-B6275704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1212-0058-114E-C9FC-67F9BDC2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38D2-079A-E9BA-AE28-3081297D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200"/>
            </a:lvl1pPr>
          </a:lstStyle>
          <a:p>
            <a:fld id="{73BEA7D2-2289-E94A-8339-76C1D6DA463F}" type="slidenum">
              <a:rPr lang="en-TH" smtClean="0"/>
              <a:pPr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5777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3776-B71C-3ACB-7AFF-2D9A05FE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DFDAC-8FA3-D8B1-477E-74415CBF9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AC25-E251-DAA9-56F0-25EA7888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52CB-4B5D-469F-A2C8-B8292AE1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8CF68-5688-46E9-36B1-B5399A59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731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BFC0-4743-F2E3-E2D9-4B83E1EC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5E1F7-F587-4FF9-127F-45A9831B7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DEAC5-81C0-8033-76DC-4AAA7F70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1CCEB-33EA-8AAD-E894-20E94B3E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9BAB8-97FD-8C3F-4438-202E2757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4054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6670-1059-35B2-117B-2D7C310F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1569E-57DF-FE49-A586-394564CD0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F4EB9-48BA-A73F-8834-C0516887B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939C2-1D61-ECAA-5466-F099BEDB3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B4BB3-7ADF-6689-2E6A-16EC28A4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85B93-CEB9-A20E-5B1D-0416ADAD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9942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1DF0-B184-3375-7BED-199B33011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0BB22-89CA-B3F6-FC09-BFF794397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65313-3D67-4C0A-5B8E-F1AB68F0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5C3BC-FB58-211A-A707-FF91E58A7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5FCAF-937C-221F-0814-5C6AD4A85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AD49D-5E35-8247-2E44-434204A4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9E439D-6B56-45A7-E304-621E0106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78114-18CF-19AF-8BDC-3F69C5C2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4783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C752-25AB-C50E-2983-921EE24E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93720-DF1D-9CCE-A906-BEE90643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C4CA5-1C36-DCAA-60F3-AD2962FA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C283F-9CF9-2BBE-DB7C-27BC66E9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964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AD8F2-F4EA-DF1A-3640-40DE08A43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141-DCE3-193B-18B9-2F1975F7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E0277-CD1A-C909-676B-8AC59260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7185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A8E3-9CDD-A6B6-8E8D-70055FDF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988F5-13E4-3A34-C7D4-FD2DC546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E2E4F-48F0-CA55-028E-5E3C7A9E8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DAF62-D2D8-C8D3-FBC2-924E08C4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2C21A-BAF4-8D59-EBBB-17ED6769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2ACF8-7969-B7D9-9397-03A01E9A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7184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798-2328-97B6-1E68-C19D1A46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0EC5C-5CDC-436D-6DFB-F1F6C1619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7952F-DEAC-A3A0-D0F7-E140FA26D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DB5D2-47B8-EB95-2DAD-4E7AA98D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0DBF8-26EC-E296-C71D-3133E4E4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6E252-1421-94B2-16C5-BF1909A2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0483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9B1A-E46A-7528-79AB-83A01C04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1BAA0-CFB7-D70F-E623-EC4463CB4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E0048-0A29-8C52-49C9-0168D8FF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DE51A-8DD7-62F4-E46C-017E9AE95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20903-576F-11DA-DE00-79C46577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0342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647240-F724-96D2-8778-A356E94A1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E2B7D-5296-85DB-8D8D-030A10E34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A7432-C718-6EA4-3312-26761580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DA4FE-DB05-437E-9271-FDE069EC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6F85E-ABEB-137D-A6D7-78610446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9016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67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A73EB-5E8E-5557-05A1-07120DC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9E6FB-B168-8A71-0CF0-C8D0EA19B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8FB86-29F1-3C79-18A4-1BB17BC1F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390E8-2F03-6695-49E2-05E64D37D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E3659-8E46-5AF1-6AB4-8757AEC37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fld id="{73BEA7D2-2289-E94A-8339-76C1D6DA463F}" type="slidenum">
              <a:rPr lang="en-TH" smtClean="0"/>
              <a:pPr/>
              <a:t>‹#›</a:t>
            </a:fld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11070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TH SarabunPSK" panose="020B0500040200020003" pitchFamily="34" charset="-34"/>
          <a:ea typeface="+mj-ea"/>
          <a:cs typeface="TH SarabunPSK" panose="020B05000402000200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p.gfz.de/en/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55/2015/961358" TargetMode="External"/><Relationship Id="rId2" Type="http://schemas.openxmlformats.org/officeDocument/2006/relationships/hyperlink" Target="https://doi.org/10.1002/2016JA02263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51/swsc/2017015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6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2999-BAF1-BC61-7035-8667F12AE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171" y="775223"/>
            <a:ext cx="11121655" cy="3024335"/>
          </a:xfrm>
        </p:spPr>
        <p:txBody>
          <a:bodyPr anchor="ctr">
            <a:noAutofit/>
          </a:bodyPr>
          <a:lstStyle/>
          <a:p>
            <a:r>
              <a:rPr lang="en-US" sz="7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Investigation of Correlation between Aurora Indexes and Neutron Monitor Count Rate </a:t>
            </a:r>
            <a:endParaRPr lang="en-TH" sz="7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C9D67-67E7-959B-2E78-72B313777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907366"/>
            <a:ext cx="9144000" cy="2693736"/>
          </a:xfrm>
        </p:spPr>
        <p:txBody>
          <a:bodyPr>
            <a:noAutofit/>
          </a:bodyPr>
          <a:lstStyle/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นางสาวณ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ัฏฐ์ฎา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 ทองพันธ์ ชั้น 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.6/6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เลขประจำตัวนักเรียน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08939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อาจารย์ปราณี ดิษรัฐกิจ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อาจารย์เกล็ดทราย ภูผาคุณ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อาจารย์กมลพร กันทะวง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ค์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D0EC9-BBC9-F758-63D6-E1B862C18C02}"/>
              </a:ext>
            </a:extLst>
          </p:cNvPr>
          <p:cNvSpPr txBox="1"/>
          <p:nvPr/>
        </p:nvSpPr>
        <p:spPr>
          <a:xfrm>
            <a:off x="0" y="-8965"/>
            <a:ext cx="4872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33E-PH03-01</a:t>
            </a:r>
          </a:p>
        </p:txBody>
      </p:sp>
    </p:spTree>
    <p:extLst>
      <p:ext uri="{BB962C8B-B14F-4D97-AF65-F5344CB8AC3E}">
        <p14:creationId xmlns:p14="http://schemas.microsoft.com/office/powerpoint/2010/main" val="214411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A4FE-56B0-54FD-556B-708A04D1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th-TH" sz="6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เนื้อหาในการนำเสนอ</a:t>
            </a:r>
            <a:endParaRPr lang="en-TH" sz="60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D4D5-8775-1F83-34F9-0F51F0595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บทนำ</a:t>
            </a:r>
          </a:p>
          <a:p>
            <a:pPr lvl="1"/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ที่มาและความสำคัญ</a:t>
            </a:r>
          </a:p>
          <a:p>
            <a:pPr lvl="1"/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งานวิจัยที่เกี่ยวข้อง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การศึกษา</a:t>
            </a:r>
          </a:p>
          <a:p>
            <a:pPr lvl="1"/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วัตถุประสงค์ ปัญหา และสมมติฐาน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ทฤษฎีที่เกี่ยวข้อง</a:t>
            </a:r>
          </a:p>
          <a:p>
            <a:pPr lvl="1"/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ตัวแปรต่าง ๆ</a:t>
            </a:r>
          </a:p>
          <a:p>
            <a:endParaRPr lang="en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41007-4D1F-694A-903E-BADE0AA87499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D8798-9D05-73D6-BED8-8B61A6D92614}"/>
              </a:ext>
            </a:extLst>
          </p:cNvPr>
          <p:cNvSpPr txBox="1"/>
          <p:nvPr/>
        </p:nvSpPr>
        <p:spPr>
          <a:xfrm>
            <a:off x="5992736" y="3970987"/>
            <a:ext cx="5361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วิธีการทำโครงงาน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ระยะเวลาใน</a:t>
            </a:r>
            <a:r>
              <a:rPr lang="th-TH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การทำ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โครงงาน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ประโยชน์และผลที่คาดว่าจะได้รับ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TH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045AD-E26E-1EA3-116C-40279FCE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5941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DECB-CADD-6AC9-BBE4-055E2DF2B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485"/>
            <a:ext cx="5481918" cy="1325563"/>
          </a:xfrm>
        </p:spPr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ที่มาและความสำคัญ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78116-E92C-6789-28B6-A59985E6433E}"/>
              </a:ext>
            </a:extLst>
          </p:cNvPr>
          <p:cNvSpPr txBox="1"/>
          <p:nvPr/>
        </p:nvSpPr>
        <p:spPr>
          <a:xfrm>
            <a:off x="7013713" y="9939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72E615-DE06-1337-DA8C-C926954D326F}"/>
              </a:ext>
            </a:extLst>
          </p:cNvPr>
          <p:cNvSpPr txBox="1"/>
          <p:nvPr/>
        </p:nvSpPr>
        <p:spPr>
          <a:xfrm>
            <a:off x="701062" y="2028616"/>
            <a:ext cx="103411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กลุ่มมวลที่ปลดปล่อยจากดวงอาทิตย์ </a:t>
            </a:r>
            <a:r>
              <a:rPr lang="en-US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(CME) </a:t>
            </a:r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มีผลต่อรังสีคอสมิกที่เข้ามาถึงโลก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CME </a:t>
            </a:r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ส่งผลต่อความแรงของออโรรา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แล้วรังสีคอสมิกกับความแรงของออโรรามีความสัมพันธ์ทางอ้อมกับดวงอาทิตย์อย่างไร?</a:t>
            </a:r>
            <a:endParaRPr lang="en-TH" sz="4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DF963-2792-1E28-D44D-8272DA43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1880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9FE8-7DAA-1C4D-83E9-CF3D86A6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4FAC-AD58-54B6-4483-9FD5E7CB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Galactic Cosmic Rays (GCRs</a:t>
            </a: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คืออะไร?</a:t>
            </a:r>
            <a:endParaRPr lang="en-TH" sz="4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479965-12C0-D0EC-1A31-05A47D20C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686476"/>
            <a:ext cx="3421644" cy="4606921"/>
          </a:xfrm>
        </p:spPr>
        <p:txBody>
          <a:bodyPr>
            <a:normAutofit/>
          </a:bodyPr>
          <a:lstStyle/>
          <a:p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อนุภาคพลังงานสูงจากนอกระบบสุริยะ</a:t>
            </a:r>
            <a:endParaRPr lang="en-TH" sz="4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เข้ามาใน</a:t>
            </a:r>
            <a:r>
              <a:rPr lang="en-US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Heliosphere</a:t>
            </a:r>
            <a:endParaRPr lang="en-TH" sz="4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ถูกเบี่ยงเบนโดยสนามแม่เหล็กดวงอาทิตย์</a:t>
            </a:r>
            <a:endParaRPr lang="en-TH" sz="4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F7C851-3B23-1E31-E7F8-929A099A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4</a:t>
            </a:fld>
            <a:endParaRPr lang="en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F8168-DEDB-699B-B641-420A18CF48A8}"/>
              </a:ext>
            </a:extLst>
          </p:cNvPr>
          <p:cNvSpPr txBox="1"/>
          <p:nvPr/>
        </p:nvSpPr>
        <p:spPr>
          <a:xfrm>
            <a:off x="3113319" y="6031787"/>
            <a:ext cx="8685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kumimoji="0" lang="th-TH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รูปที่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 1</a:t>
            </a:r>
            <a:r>
              <a:rPr kumimoji="0" lang="th-TH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Galactic Cosmic Rays</a:t>
            </a:r>
            <a:r>
              <a:rPr kumimoji="0" lang="th-TH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NASA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, 2018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 descr="The Heliosphere">
            <a:extLst>
              <a:ext uri="{FF2B5EF4-FFF2-40B4-BE49-F238E27FC236}">
                <a16:creationId xmlns:a16="http://schemas.microsoft.com/office/drawing/2014/main" id="{DCB2FD7D-87E0-9542-E3F2-8195AAC70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1577244"/>
            <a:ext cx="6512157" cy="439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82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4E4E-E4DE-E6AD-87CB-DC8754EA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DD55-279D-3607-1B4C-ACD07FCF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Galactic Cosmic Rays (GCRs</a:t>
            </a: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คืออะไร?</a:t>
            </a:r>
            <a:endParaRPr lang="en-TH" sz="4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B22B2F-7AD1-6E4F-E0D3-0CEC2011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4268" y="1607429"/>
            <a:ext cx="6187440" cy="4804068"/>
          </a:xfrm>
        </p:spPr>
        <p:txBody>
          <a:bodyPr>
            <a:noAutofit/>
          </a:bodyPr>
          <a:lstStyle/>
          <a:p>
            <a:r>
              <a:rPr lang="th-TH" sz="4000" dirty="0"/>
              <a:t>ส่วนใหญ่เป็นโปรตอน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เมื่อเข้าสู่ชั้นบรรยากาศโลกแล้วจะชนกับอนุภาคอื่น ๆ ในชั้นบรรยากาศ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 </a:t>
            </a:r>
            <a:r>
              <a:rPr lang="en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air shower</a:t>
            </a:r>
          </a:p>
          <a:p>
            <a:pPr lvl="1"/>
            <a:r>
              <a:rPr lang="en-TH" sz="40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Neutrons</a:t>
            </a:r>
          </a:p>
          <a:p>
            <a:pPr lvl="1"/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</a:t>
            </a:r>
            <a:r>
              <a:rPr lang="en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ions</a:t>
            </a:r>
          </a:p>
          <a:p>
            <a:pPr lvl="1"/>
            <a:r>
              <a:rPr lang="en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Muons</a:t>
            </a:r>
          </a:p>
          <a:p>
            <a:pPr lvl="1"/>
            <a:r>
              <a:rPr lang="en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Gamma rays</a:t>
            </a:r>
          </a:p>
        </p:txBody>
      </p:sp>
      <p:pic>
        <p:nvPicPr>
          <p:cNvPr id="3" name="Picture 4" descr="cascade2">
            <a:extLst>
              <a:ext uri="{FF2B5EF4-FFF2-40B4-BE49-F238E27FC236}">
                <a16:creationId xmlns:a16="http://schemas.microsoft.com/office/drawing/2014/main" id="{9BD93C63-4548-265A-DB08-BAA3B758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7" y="1612607"/>
            <a:ext cx="4003390" cy="480406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C828C-68F7-D730-7183-FCC797FE523B}"/>
              </a:ext>
            </a:extLst>
          </p:cNvPr>
          <p:cNvSpPr txBox="1"/>
          <p:nvPr/>
        </p:nvSpPr>
        <p:spPr>
          <a:xfrm>
            <a:off x="471661" y="6492875"/>
            <a:ext cx="8685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(Adapted from </a:t>
            </a:r>
            <a:r>
              <a:rPr lang="en-US" altLang="ja-JP" dirty="0">
                <a:latin typeface="TH SarabunPSK" panose="020B0500040200020003" pitchFamily="34" charset="-34"/>
                <a:ea typeface="ＭＳ Ｐゴシック" panose="020B0600070205080204" pitchFamily="34" charset="-128"/>
                <a:cs typeface="TH SarabunPSK" panose="020B0500040200020003" pitchFamily="34" charset="-34"/>
              </a:rPr>
              <a:t>Ground-Based Cosmic Ray Detectors for Space Weather Applications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 slide, </a:t>
            </a:r>
            <a:r>
              <a:rPr lang="en-US" alt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Bieber,  2011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800CF-ECCE-8266-EDF6-76E2E06A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5587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9EE6-F334-8274-59CB-230449B0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Neutron Count Rate (NCR) is?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C684621-5293-B521-CDFD-1212E57DB7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95" y="1996124"/>
            <a:ext cx="5549318" cy="330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759BD-6D21-DF72-DC34-E191FE371963}"/>
              </a:ext>
            </a:extLst>
          </p:cNvPr>
          <p:cNvSpPr txBox="1"/>
          <p:nvPr/>
        </p:nvSpPr>
        <p:spPr>
          <a:xfrm>
            <a:off x="458694" y="6155065"/>
            <a:ext cx="4034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(Bütikofer, Rolf, 2018)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DA6BDA8-16BE-312A-5283-E805D06022FB}"/>
              </a:ext>
            </a:extLst>
          </p:cNvPr>
          <p:cNvSpPr txBox="1">
            <a:spLocks/>
          </p:cNvSpPr>
          <p:nvPr/>
        </p:nvSpPr>
        <p:spPr>
          <a:xfrm>
            <a:off x="6311899" y="1612608"/>
            <a:ext cx="5421405" cy="4804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จำนวนอนุภาคของนิวตรอนต่อวินาที</a:t>
            </a: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สามารถตรวจวัดได้จากเครื่องตรวจวัดบนโลก</a:t>
            </a:r>
            <a:endParaRPr lang="en-US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ใช้ตรวจสอบกิจกรรมของดวงอาทิตย์ในเบื้องต้นได้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A9C45-6D86-5A70-43EB-2AB3501C4D39}"/>
              </a:ext>
            </a:extLst>
          </p:cNvPr>
          <p:cNvSpPr txBox="1">
            <a:spLocks/>
          </p:cNvSpPr>
          <p:nvPr/>
        </p:nvSpPr>
        <p:spPr>
          <a:xfrm>
            <a:off x="458694" y="5409278"/>
            <a:ext cx="5421405" cy="876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รูปที่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2: 6-NM64 Neutron Monitor 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BF46A-F751-3FCB-382B-2E241936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9519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65D0-22FF-9E37-15D0-C1BCC2DA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B2B1-C6BC-2AA3-CE6E-8716A8AB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81918" cy="1325563"/>
          </a:xfrm>
        </p:spPr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การเกิดออโรรา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BF282-546B-3EF3-A566-0E57710796A7}"/>
              </a:ext>
            </a:extLst>
          </p:cNvPr>
          <p:cNvSpPr txBox="1"/>
          <p:nvPr/>
        </p:nvSpPr>
        <p:spPr>
          <a:xfrm>
            <a:off x="7013713" y="9939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EEE0F-2625-CC88-4253-06100D3C0BED}"/>
              </a:ext>
            </a:extLst>
          </p:cNvPr>
          <p:cNvSpPr txBox="1"/>
          <p:nvPr/>
        </p:nvSpPr>
        <p:spPr>
          <a:xfrm>
            <a:off x="7472253" y="1501095"/>
            <a:ext cx="43956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ลมสุริยะปะทะกับด้านหน้าของสนามแม่เหล็กโลก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Magnetic reconnection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(IMF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สนามแม่เหล็กโลก เชื่อมกัน)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อนุภาคถูกพัดไปยังบริเวณด้านหลังของสนามแม่เหล็กโลก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อนุภาคกลับเข้ามาที่ขั้วโลก เกิดการชนกับอนุภาคที่อยู่ใน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Ionosphere</a:t>
            </a:r>
            <a:endParaRPr lang="en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3148DB-52BC-5DE7-10F5-12211A0B0467}"/>
              </a:ext>
            </a:extLst>
          </p:cNvPr>
          <p:cNvSpPr txBox="1"/>
          <p:nvPr/>
        </p:nvSpPr>
        <p:spPr>
          <a:xfrm>
            <a:off x="324091" y="5267420"/>
            <a:ext cx="3392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รูปที่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3: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การเกิดออโรรา</a:t>
            </a:r>
            <a:endParaRPr lang="en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(Aurora Nights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2022</a:t>
            </a: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pic>
        <p:nvPicPr>
          <p:cNvPr id="1028" name="Picture 4" descr="What causes the northern lights? | Aurora Nights">
            <a:extLst>
              <a:ext uri="{FF2B5EF4-FFF2-40B4-BE49-F238E27FC236}">
                <a16:creationId xmlns:a16="http://schemas.microsoft.com/office/drawing/2014/main" id="{0B477C76-48B5-4064-C593-7687F0D41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91" y="1882268"/>
            <a:ext cx="6912805" cy="319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70583C-21C6-7036-7ABB-1241ABC3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6497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37788-9121-D409-FD5B-F927D58A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1686-BBA4-2C99-2E7A-0AE084163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81918" cy="1325563"/>
          </a:xfrm>
        </p:spPr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การเกิดออโรรา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8386F-E403-5915-10F9-BD08E3A4328E}"/>
              </a:ext>
            </a:extLst>
          </p:cNvPr>
          <p:cNvSpPr txBox="1"/>
          <p:nvPr/>
        </p:nvSpPr>
        <p:spPr>
          <a:xfrm>
            <a:off x="7013713" y="9939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6CD65-E9FC-8C67-F8C0-0F292E1ED0F9}"/>
              </a:ext>
            </a:extLst>
          </p:cNvPr>
          <p:cNvSpPr txBox="1"/>
          <p:nvPr/>
        </p:nvSpPr>
        <p:spPr>
          <a:xfrm>
            <a:off x="7669361" y="1959156"/>
            <a:ext cx="43956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เมื่อมี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CME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หรือ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Solar Storm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จะทำให้ออโรรามีความรุนแรงมากขึ้น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Solar Storm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เป็นช่วงที่ลมสุริยะรุนแรงมาก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ึ้น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จะรู้ได้อย่างไรว่าออโรราเกิดแรงขึ้น/เบาลง?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AC016-6029-7F88-B9C0-8EE769F4A6CB}"/>
              </a:ext>
            </a:extLst>
          </p:cNvPr>
          <p:cNvSpPr txBox="1"/>
          <p:nvPr/>
        </p:nvSpPr>
        <p:spPr>
          <a:xfrm>
            <a:off x="324091" y="5562142"/>
            <a:ext cx="3392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รูปที่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4: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ออโรรา</a:t>
            </a:r>
          </a:p>
          <a:p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Visit Norway, 2016</a:t>
            </a: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074" name="Picture 2" descr="Aurora borealis from space | Northern lights video from NASA">
            <a:extLst>
              <a:ext uri="{FF2B5EF4-FFF2-40B4-BE49-F238E27FC236}">
                <a16:creationId xmlns:a16="http://schemas.microsoft.com/office/drawing/2014/main" id="{3E04C94C-9EAE-9FA5-C18D-5011D58AF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48" y="1734391"/>
            <a:ext cx="6993038" cy="349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8110FC-8261-209E-B1AC-4612A8CB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27535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7414-61C4-64A4-4D6F-CAD655FD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 particularly active 'aurora season' could be just weeks away | Live  Science">
            <a:extLst>
              <a:ext uri="{FF2B5EF4-FFF2-40B4-BE49-F238E27FC236}">
                <a16:creationId xmlns:a16="http://schemas.microsoft.com/office/drawing/2014/main" id="{4C9BC204-8FA3-8134-E0CD-5693886C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97F770-6800-C836-823B-9701F878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Solar and </a:t>
            </a:r>
            <a:r>
              <a:rPr lang="en-TH" dirty="0">
                <a:solidFill>
                  <a:srgbClr val="0070C0"/>
                </a:solidFill>
              </a:rPr>
              <a:t>Geomagnetic</a:t>
            </a:r>
            <a:r>
              <a:rPr lang="en-T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Indices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55E97-7ADE-6C7C-CDEF-D36C1ABB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7" y="1766887"/>
            <a:ext cx="4430806" cy="823912"/>
          </a:xfrm>
        </p:spPr>
        <p:txBody>
          <a:bodyPr>
            <a:normAutofit/>
          </a:bodyPr>
          <a:lstStyle/>
          <a:p>
            <a:r>
              <a:rPr lang="en-TH" sz="3600" dirty="0"/>
              <a:t>Kp Index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97AB7-0D4C-1410-7477-00B7076CE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7" y="2666999"/>
            <a:ext cx="4430806" cy="3888176"/>
          </a:xfrm>
        </p:spPr>
        <p:txBody>
          <a:bodyPr>
            <a:normAutofit/>
          </a:bodyPr>
          <a:lstStyle/>
          <a:p>
            <a:r>
              <a:rPr lang="th-TH" dirty="0"/>
              <a:t>ระดับความปั่นป่วนของสนามแม่เหล็กโลกจากพายุแม่เหล็ก </a:t>
            </a:r>
            <a:r>
              <a:rPr lang="en-US" dirty="0"/>
              <a:t>(Geomagnetic Storms)</a:t>
            </a:r>
            <a:endParaRPr lang="en-TH" dirty="0"/>
          </a:p>
          <a:p>
            <a:r>
              <a:rPr lang="th-TH" dirty="0"/>
              <a:t>มีค่าตั้งแต่ </a:t>
            </a:r>
            <a:r>
              <a:rPr lang="en-TH" dirty="0"/>
              <a:t>0 – 9</a:t>
            </a:r>
          </a:p>
          <a:p>
            <a:r>
              <a:rPr lang="en-TH" dirty="0"/>
              <a:t>Kp</a:t>
            </a:r>
            <a:r>
              <a:rPr lang="th-TH" dirty="0"/>
              <a:t> สูง หมายถึงมีพายุแม่เหล็กรุนแรง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F03E0B-5DF8-789C-312B-CE3C13C76505}"/>
              </a:ext>
            </a:extLst>
          </p:cNvPr>
          <p:cNvSpPr txBox="1">
            <a:spLocks/>
          </p:cNvSpPr>
          <p:nvPr/>
        </p:nvSpPr>
        <p:spPr>
          <a:xfrm>
            <a:off x="4597400" y="2666999"/>
            <a:ext cx="3979743" cy="352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TH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02CCE07-36C6-07B9-34EB-0DE13C65C48F}"/>
              </a:ext>
            </a:extLst>
          </p:cNvPr>
          <p:cNvSpPr txBox="1">
            <a:spLocks/>
          </p:cNvSpPr>
          <p:nvPr/>
        </p:nvSpPr>
        <p:spPr>
          <a:xfrm>
            <a:off x="7753563" y="2666999"/>
            <a:ext cx="3979743" cy="352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TH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71BB445-51E1-870D-DC64-E07D0B9F2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1738127"/>
            <a:ext cx="6354643" cy="4236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1EBC43-F649-73E1-98EB-3A0E29E7787B}"/>
              </a:ext>
            </a:extLst>
          </p:cNvPr>
          <p:cNvSpPr txBox="1"/>
          <p:nvPr/>
        </p:nvSpPr>
        <p:spPr>
          <a:xfrm>
            <a:off x="5080000" y="6155065"/>
            <a:ext cx="6354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(GFZ Helmholtz Centre for Geosciences, 2025, retrieved 19 July 2025 )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0866C-857E-E497-89CF-92E6DB33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9374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61E8-FD44-84E8-86EE-BAD7F6E5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11B-357E-77C7-9DB3-59EFD232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Solar and </a:t>
            </a:r>
            <a:r>
              <a:rPr lang="en-TH" dirty="0">
                <a:solidFill>
                  <a:srgbClr val="0070C0"/>
                </a:solidFill>
              </a:rPr>
              <a:t>Geomagnetic</a:t>
            </a:r>
            <a:r>
              <a:rPr lang="en-TH" dirty="0"/>
              <a:t> </a:t>
            </a:r>
            <a:r>
              <a:rPr lang="en-TH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407C82-EE66-28DF-0F3F-69B41863F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754187"/>
            <a:ext cx="5637306" cy="823912"/>
          </a:xfrm>
        </p:spPr>
        <p:txBody>
          <a:bodyPr>
            <a:normAutofit/>
          </a:bodyPr>
          <a:lstStyle/>
          <a:p>
            <a:r>
              <a:rPr lang="en-TH" sz="3600" dirty="0"/>
              <a:t>Dst: Disturbance Storm Time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94B09C7-371B-03B3-D0CE-B276422D6375}"/>
              </a:ext>
            </a:extLst>
          </p:cNvPr>
          <p:cNvSpPr txBox="1">
            <a:spLocks/>
          </p:cNvSpPr>
          <p:nvPr/>
        </p:nvSpPr>
        <p:spPr>
          <a:xfrm>
            <a:off x="722860" y="2666999"/>
            <a:ext cx="5210175" cy="352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การเบี่ยงเบนของสนามแม่เหล็กโลกในแกนแนวนอน หน่วย </a:t>
            </a:r>
            <a:r>
              <a:rPr lang="en-US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nT</a:t>
            </a:r>
            <a:endParaRPr lang="en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มาจากกระแสไฟฟ้ารอบโลกในบริเวณเส้นศูนย์สูตร สูงจากผิวโลกประมาณ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10,000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ถึง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60,000 km</a:t>
            </a:r>
            <a:endParaRPr lang="en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71D5895-5A0E-1236-7F2E-8F71174B9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965" y="1389187"/>
            <a:ext cx="5210175" cy="474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574D03-125E-9318-9109-59D6730288C4}"/>
              </a:ext>
            </a:extLst>
          </p:cNvPr>
          <p:cNvSpPr txBox="1"/>
          <p:nvPr/>
        </p:nvSpPr>
        <p:spPr>
          <a:xfrm>
            <a:off x="4038765" y="6136700"/>
            <a:ext cx="7430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รูปที่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5: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สถานีตรวจวัด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Dst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ต่าง ๆ ทั่วโลก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(SIIG/ISGI, 2013)</a:t>
            </a:r>
            <a:endParaRPr kumimoji="0" lang="en-GB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E3B4F-25A3-07CE-57B2-E1DDBF22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12212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8D61-EE7F-CBD1-0241-8F63B4C3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6DB75-880C-F287-DA02-D61DC2C6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Solar and </a:t>
            </a:r>
            <a:r>
              <a:rPr lang="en-TH" dirty="0">
                <a:solidFill>
                  <a:srgbClr val="0070C0"/>
                </a:solidFill>
              </a:rPr>
              <a:t>Geomagnetic</a:t>
            </a:r>
            <a:r>
              <a:rPr lang="en-TH" dirty="0"/>
              <a:t> </a:t>
            </a:r>
            <a:r>
              <a:rPr lang="en-TH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Indices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94EC25-6698-1450-25D1-7C81B6AEF528}"/>
              </a:ext>
            </a:extLst>
          </p:cNvPr>
          <p:cNvSpPr txBox="1">
            <a:spLocks/>
          </p:cNvSpPr>
          <p:nvPr/>
        </p:nvSpPr>
        <p:spPr>
          <a:xfrm>
            <a:off x="4597400" y="2666999"/>
            <a:ext cx="3979743" cy="352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TH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122E785-1AA3-C2D1-E460-D6EC774011E2}"/>
              </a:ext>
            </a:extLst>
          </p:cNvPr>
          <p:cNvSpPr txBox="1">
            <a:spLocks/>
          </p:cNvSpPr>
          <p:nvPr/>
        </p:nvSpPr>
        <p:spPr>
          <a:xfrm>
            <a:off x="7753563" y="2666999"/>
            <a:ext cx="3979743" cy="352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TH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E8E78D5-4880-8D77-6E5D-0CC31791253F}"/>
              </a:ext>
            </a:extLst>
          </p:cNvPr>
          <p:cNvSpPr txBox="1">
            <a:spLocks/>
          </p:cNvSpPr>
          <p:nvPr/>
        </p:nvSpPr>
        <p:spPr>
          <a:xfrm>
            <a:off x="631103" y="2666998"/>
            <a:ext cx="6445558" cy="402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ความแรงของกระแสไฟฟ้าในไอโอโนสเฟียร์ ที่ละติจูดสูง โดยเฉพาะแนววงแหวนออโรรา </a:t>
            </a: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(nT)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วัดสูงจากพื้นโลกประมาณ</a:t>
            </a: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100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ถึง</a:t>
            </a: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150 km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เกิดจากการเร่งประจุโดยลมสุริยะ และสนามแม่เหล็กโลก</a:t>
            </a:r>
            <a:endParaRPr lang="en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44BE930-37E5-EE11-6A8D-4E5A4CBDE1BF}"/>
              </a:ext>
            </a:extLst>
          </p:cNvPr>
          <p:cNvSpPr txBox="1">
            <a:spLocks/>
          </p:cNvSpPr>
          <p:nvPr/>
        </p:nvSpPr>
        <p:spPr>
          <a:xfrm>
            <a:off x="458694" y="1690688"/>
            <a:ext cx="601588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TH" sz="3600" b="1" i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AE: Auroral Electrojets 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1DAC27-E3A7-3182-768C-3E9C65DD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11</a:t>
            </a:fld>
            <a:endParaRPr lang="en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C91AC-4972-2DBF-6741-946871295662}"/>
              </a:ext>
            </a:extLst>
          </p:cNvPr>
          <p:cNvSpPr txBox="1"/>
          <p:nvPr/>
        </p:nvSpPr>
        <p:spPr>
          <a:xfrm>
            <a:off x="7076661" y="2640291"/>
            <a:ext cx="43732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AU =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eastward electrojet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 = westward electrojet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= AU – 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&gt; 500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nT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moderate activity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&gt; 1000 nT = strong auroral substorm</a:t>
            </a:r>
          </a:p>
        </p:txBody>
      </p:sp>
    </p:spTree>
    <p:extLst>
      <p:ext uri="{BB962C8B-B14F-4D97-AF65-F5344CB8AC3E}">
        <p14:creationId xmlns:p14="http://schemas.microsoft.com/office/powerpoint/2010/main" val="178205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5750-7981-CD1A-5415-45040AF8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งานวิจัยที่เกี่ยวข้อง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2" name="Content Placeholder 11" descr="A graph with a line&#10;&#10;AI-generated content may be incorrect.">
            <a:extLst>
              <a:ext uri="{FF2B5EF4-FFF2-40B4-BE49-F238E27FC236}">
                <a16:creationId xmlns:a16="http://schemas.microsoft.com/office/drawing/2014/main" id="{162A166D-556B-8E7F-9D30-FA9353066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9494" y="2777267"/>
            <a:ext cx="5080000" cy="26797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11E566-D5B9-8741-DACE-D3965391F2AC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351D2A-FDD2-9D01-3EC4-69CBF92A6457}"/>
              </a:ext>
            </a:extLst>
          </p:cNvPr>
          <p:cNvSpPr txBox="1"/>
          <p:nvPr/>
        </p:nvSpPr>
        <p:spPr>
          <a:xfrm>
            <a:off x="6833286" y="5415657"/>
            <a:ext cx="50786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กราฟแสดงการเปลี่ยนแปลงของ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Pearson correlation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ของ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NCR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Dst</a:t>
            </a:r>
            <a:endParaRPr lang="en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6" name="Picture 1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3E54B8F3-C07B-F208-5F25-5A8FCCC7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02" y="3243501"/>
            <a:ext cx="5726203" cy="20113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927F13-33F2-4300-678A-A1164C5BA381}"/>
              </a:ext>
            </a:extLst>
          </p:cNvPr>
          <p:cNvSpPr txBox="1"/>
          <p:nvPr/>
        </p:nvSpPr>
        <p:spPr>
          <a:xfrm>
            <a:off x="4655408" y="495216"/>
            <a:ext cx="725650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algn="just"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Kisvárdai, Z.,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Štempel</a:t>
            </a: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, J.,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Randuška</a:t>
            </a: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, M.,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Pišútová</a:t>
            </a: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, N., &amp; Ganeva, M. (2025). </a:t>
            </a:r>
            <a:r>
              <a:rPr lang="en-US" sz="20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Analysis of 42 	Years of Cosmic Ray Measurements by the Neutron Monitor at </a:t>
            </a:r>
            <a:r>
              <a:rPr lang="en-US" sz="2000" i="1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Lomnický</a:t>
            </a:r>
            <a:r>
              <a:rPr lang="en-US" sz="20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štít</a:t>
            </a:r>
            <a:r>
              <a:rPr lang="en-US" sz="20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 	Observatory</a:t>
            </a: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.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arXiv</a:t>
            </a: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. https://</a:t>
            </a:r>
            <a:r>
              <a:rPr lang="en-US" sz="200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arxiv.org</a:t>
            </a:r>
            <a:r>
              <a:rPr lang="en-US" sz="20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</a:rPr>
              <a:t>/abs/2502.09627</a:t>
            </a:r>
            <a:endParaRPr lang="en-TH" sz="1400" dirty="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B349CE-C6F6-75A9-63E2-96AB9DB27471}"/>
              </a:ext>
            </a:extLst>
          </p:cNvPr>
          <p:cNvSpPr txBox="1"/>
          <p:nvPr/>
        </p:nvSpPr>
        <p:spPr>
          <a:xfrm>
            <a:off x="464687" y="5415657"/>
            <a:ext cx="61839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ตารางแสดง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Pearson correlation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ของ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ฟ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ลัก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ซ์ข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องนิวตรอนเฉลี่ย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42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ปี กับ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F10.7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Dst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Index</a:t>
            </a:r>
            <a:endParaRPr lang="en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843B8B-B0E2-9354-2C6A-A5228CEA63B6}"/>
              </a:ext>
            </a:extLst>
          </p:cNvPr>
          <p:cNvSpPr txBox="1"/>
          <p:nvPr/>
        </p:nvSpPr>
        <p:spPr>
          <a:xfrm>
            <a:off x="464687" y="1789416"/>
            <a:ext cx="112000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ศึกษา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correlation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neutron flux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(ย้อนหลัง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42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ปี) 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F10.7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Dst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Index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ได้ผลว่า 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F10.7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ได้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 = -0.744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Dst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ได้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 = 0.589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ดังตาราง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36747-7CE7-8F57-5608-654947C5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12</a:t>
            </a:fld>
            <a:endParaRPr lang="en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AF3FC-1E32-D1E4-7756-98D6D5D42F4C}"/>
              </a:ext>
            </a:extLst>
          </p:cNvPr>
          <p:cNvSpPr/>
          <p:nvPr/>
        </p:nvSpPr>
        <p:spPr>
          <a:xfrm>
            <a:off x="489402" y="3243501"/>
            <a:ext cx="5726203" cy="917682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4637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58DE-C4AB-8251-3BB3-845CE7B8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A1DC-6798-6700-FAE7-7446CACA4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3871"/>
            <a:ext cx="10158351" cy="55702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sz="5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วัตถุประสงค์</a:t>
            </a:r>
            <a:endParaRPr lang="en-US" sz="5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เพื่อศึกษา</a:t>
            </a:r>
            <a:r>
              <a:rPr lang="th-TH" sz="36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ระหว่างดัชนีออโรรา ได้แก่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AE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Kp Index</a:t>
            </a:r>
            <a:r>
              <a:rPr lang="th-TH" sz="36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กับอัตราการนับนิวตรอนที่วัดได้จากสถานีตรวจวัดบนโลก</a:t>
            </a:r>
            <a:r>
              <a:rPr lang="en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sz="5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ปัญหา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ความสัมพันธ์เชิงสถิติระหว่าง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Kp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กับอัตราการนับของนิวตรอนเป็นไปในทิศทางใด</a:t>
            </a:r>
          </a:p>
          <a:p>
            <a:pPr marL="0" indent="0">
              <a:buNone/>
            </a:pPr>
            <a:r>
              <a:rPr lang="th-TH" sz="5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สมมติฐาน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ความสัมพันธ์ระหว่าง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AE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Kp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กับอัตราการนับของนิวตรอนเป็นไปในทาง</a:t>
            </a:r>
            <a:r>
              <a:rPr lang="th-TH" sz="36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ตรงกันข้ามกัน</a:t>
            </a:r>
            <a:endParaRPr lang="en-TH" sz="3600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7EADC-763D-52E7-F5E1-840BA70172BA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DFBF7D-0A48-F012-7D09-E7852FF7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80799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C8FBAF-5DCA-0A7B-74F8-7C6508C62823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04A448-024F-5EF0-C8E0-C5E375899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654"/>
            <a:ext cx="11008360" cy="5570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5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ตัวแปรต้น</a:t>
            </a:r>
            <a:endParaRPr lang="en-US" sz="5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อัตราการนับนิวตรอนที่วัดได้จากสถานีตรวจวัดบนโลก</a:t>
            </a:r>
            <a:r>
              <a:rPr lang="en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ตั้งแต่ช่วงปี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ค.ศ.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1964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ถึง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2020</a:t>
            </a:r>
            <a:endParaRPr lang="th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sz="5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ตัวแปรตาม</a:t>
            </a:r>
          </a:p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Kp Index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ที่วัดได้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sz="5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ตัวแปรควบคุม</a:t>
            </a:r>
          </a:p>
          <a:p>
            <a:r>
              <a:rPr lang="th-TH" dirty="0"/>
              <a:t>ช่วงเวลาของการเก็บข้อมูล (จากปี</a:t>
            </a:r>
            <a:r>
              <a:rPr lang="en-US" dirty="0"/>
              <a:t> 1964</a:t>
            </a:r>
            <a:r>
              <a:rPr lang="th-TH" dirty="0"/>
              <a:t> ถึง</a:t>
            </a:r>
            <a:r>
              <a:rPr lang="en-US" dirty="0"/>
              <a:t> 2020)</a:t>
            </a:r>
            <a:endParaRPr lang="en-US" b="1" dirty="0"/>
          </a:p>
          <a:p>
            <a:pPr marL="0" indent="0">
              <a:buNone/>
            </a:pPr>
            <a:endParaRPr lang="th-TH" sz="5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8EEED7-23FA-1DDB-D2AC-1E2235A8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45985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BC52-220E-0F0C-9400-C38EB28C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000" dirty="0"/>
              <a:t>ขั้นตอนการดำเนินการ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06C7-3957-434B-479F-76FFB2F86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รวบรวมข้อมูล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Neutron Count Rate: https://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www.nmdb.eu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/nest/</a:t>
            </a:r>
          </a:p>
          <a:p>
            <a:pPr lvl="1"/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Index: https://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wdc.kugi.kyoto-u.ac.jp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dstae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index.html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Kp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Index: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  <a:hlinkClick r:id="rId3"/>
              </a:rPr>
              <a:t>https://kp.gfz.de/en/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</a:t>
            </a:r>
            <a:r>
              <a:rPr lang="en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Fractional Date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จัดเรียงข้อมูลเข้าด้วยกัน และจัดกลุ่มข้อมูล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3.</a:t>
            </a:r>
            <a:r>
              <a:rPr lang="th-TH" sz="32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สร้างกราฟแสดงความสัมพันธ์</a:t>
            </a:r>
            <a:r>
              <a:rPr lang="en-US" sz="32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AE Index Kp Index</a:t>
            </a:r>
            <a:r>
              <a:rPr lang="th-TH" sz="32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และ</a:t>
            </a:r>
            <a:r>
              <a:rPr lang="en-US" sz="32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NCR</a:t>
            </a:r>
            <a:r>
              <a:rPr lang="th-TH" sz="32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ตามช่วงเวลา</a:t>
            </a:r>
          </a:p>
          <a:p>
            <a:pPr marL="0" indent="0">
              <a:buNone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วิเคราะห์ข้อมูลโดยใช้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Pearson/Spearman correlation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ดูว่า </a:t>
            </a:r>
            <a:r>
              <a:rPr lang="th-TH" sz="3200" dirty="0">
                <a:solidFill>
                  <a:schemeClr val="accent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สัมพันธ์กัน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ไหม 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Regression/Granger Causality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ดูว่าค่าหนึ่ง</a:t>
            </a:r>
            <a:r>
              <a:rPr lang="th-TH" sz="3200" dirty="0">
                <a:solidFill>
                  <a:schemeClr val="accent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มีอิทธิพล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ต่อค่าหนึ่งหรือไม่ </a:t>
            </a:r>
          </a:p>
          <a:p>
            <a:pPr marL="0" indent="0">
              <a:buNone/>
            </a:pP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8079A-9875-F368-0C8E-2C86A0D22BBE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53521-CFAB-41E2-82CA-34095163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01252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DD70-5F26-9CBD-1F73-783CB14B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D84E8-9795-8A36-4012-7DA7B64F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000" dirty="0"/>
              <a:t>ขั้นตอนการดำเนินการ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7E62C-7B92-78D2-776C-61AAA53DE4E5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46423-315C-0BE9-F6A8-00BE564C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16</a:t>
            </a:fld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1735D3-ECEA-2091-A6D1-AC040BFD0AE9}"/>
              </a:ext>
            </a:extLst>
          </p:cNvPr>
          <p:cNvSpPr/>
          <p:nvPr/>
        </p:nvSpPr>
        <p:spPr>
          <a:xfrm>
            <a:off x="463827" y="1690687"/>
            <a:ext cx="4068414" cy="2576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รวบรวมข้อมูล</a:t>
            </a:r>
          </a:p>
          <a:p>
            <a:pPr algn="ctr"/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Kp Index, </a:t>
            </a:r>
            <a:endParaRPr lang="th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Index, </a:t>
            </a:r>
            <a:endParaRPr lang="th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Neutron Count Rate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33F513-5830-F0FD-9D86-08C2FFE10A81}"/>
              </a:ext>
            </a:extLst>
          </p:cNvPr>
          <p:cNvCxnSpPr>
            <a:cxnSpLocks/>
          </p:cNvCxnSpPr>
          <p:nvPr/>
        </p:nvCxnSpPr>
        <p:spPr>
          <a:xfrm>
            <a:off x="5088835" y="2555732"/>
            <a:ext cx="173603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3BFA4-2524-431E-22ED-68CE5D0ABA57}"/>
              </a:ext>
            </a:extLst>
          </p:cNvPr>
          <p:cNvSpPr/>
          <p:nvPr/>
        </p:nvSpPr>
        <p:spPr>
          <a:xfrm>
            <a:off x="7156173" y="1201243"/>
            <a:ext cx="3419061" cy="173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จัดเรียงข้อมูลโดยใช้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Fractional Date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85B407-2297-52A6-EE8E-AB32E025D94A}"/>
              </a:ext>
            </a:extLst>
          </p:cNvPr>
          <p:cNvSpPr/>
          <p:nvPr/>
        </p:nvSpPr>
        <p:spPr>
          <a:xfrm>
            <a:off x="7259705" y="4754563"/>
            <a:ext cx="3419061" cy="173831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ร้างกราฟแสดงความสัมพันธ์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81F315-DB95-082B-AFE0-B3C338CDDB48}"/>
              </a:ext>
            </a:extLst>
          </p:cNvPr>
          <p:cNvCxnSpPr>
            <a:cxnSpLocks/>
          </p:cNvCxnSpPr>
          <p:nvPr/>
        </p:nvCxnSpPr>
        <p:spPr>
          <a:xfrm>
            <a:off x="8865704" y="3045573"/>
            <a:ext cx="0" cy="136042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3CE2253-23FC-CA92-E75A-E7E6293A74C7}"/>
              </a:ext>
            </a:extLst>
          </p:cNvPr>
          <p:cNvSpPr/>
          <p:nvPr/>
        </p:nvSpPr>
        <p:spPr>
          <a:xfrm>
            <a:off x="463827" y="4754563"/>
            <a:ext cx="3419061" cy="173831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วิเคราะห์และ</a:t>
            </a:r>
          </a:p>
          <a:p>
            <a:pPr algn="ctr"/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อภิปรายข้อมูล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1F34D1-5C64-2F7B-E248-69A440D7F3D7}"/>
              </a:ext>
            </a:extLst>
          </p:cNvPr>
          <p:cNvCxnSpPr>
            <a:cxnSpLocks/>
          </p:cNvCxnSpPr>
          <p:nvPr/>
        </p:nvCxnSpPr>
        <p:spPr>
          <a:xfrm flipH="1">
            <a:off x="4161183" y="5623719"/>
            <a:ext cx="266368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657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7D2F-05A9-6A32-E7D8-68AE20BA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94C5-EDFD-696E-A881-6FC2257D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33" y="185518"/>
            <a:ext cx="10515600" cy="1325563"/>
          </a:xfrm>
        </p:spPr>
        <p:txBody>
          <a:bodyPr>
            <a:normAutofit/>
          </a:bodyPr>
          <a:lstStyle/>
          <a:p>
            <a:r>
              <a:rPr lang="th-TH" sz="6000" dirty="0"/>
              <a:t>การวิเคราะห์</a:t>
            </a:r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779E5-E2FA-68BE-8A7F-91C10B455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813" y="553814"/>
            <a:ext cx="6587987" cy="9678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NCR</a:t>
            </a: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จากสถานี</a:t>
            </a:r>
            <a:r>
              <a:rPr lang="en-US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OULU </a:t>
            </a: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ฟินแลนด์</a:t>
            </a:r>
            <a:endParaRPr lang="en-US" sz="4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68CAD-0396-6E53-691E-1ACB3016AC55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0ABBDB-A74C-8067-E81C-743270859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322997"/>
              </p:ext>
            </p:extLst>
          </p:nvPr>
        </p:nvGraphicFramePr>
        <p:xfrm>
          <a:off x="391933" y="1455737"/>
          <a:ext cx="8911092" cy="5177790"/>
        </p:xfrm>
        <a:graphic>
          <a:graphicData uri="http://schemas.openxmlformats.org/drawingml/2006/table">
            <a:tbl>
              <a:tblPr/>
              <a:tblGrid>
                <a:gridCol w="1510578">
                  <a:extLst>
                    <a:ext uri="{9D8B030D-6E8A-4147-A177-3AD203B41FA5}">
                      <a16:colId xmlns:a16="http://schemas.microsoft.com/office/drawing/2014/main" val="2056333404"/>
                    </a:ext>
                  </a:extLst>
                </a:gridCol>
                <a:gridCol w="1637718">
                  <a:extLst>
                    <a:ext uri="{9D8B030D-6E8A-4147-A177-3AD203B41FA5}">
                      <a16:colId xmlns:a16="http://schemas.microsoft.com/office/drawing/2014/main" val="4179447288"/>
                    </a:ext>
                  </a:extLst>
                </a:gridCol>
                <a:gridCol w="2019441">
                  <a:extLst>
                    <a:ext uri="{9D8B030D-6E8A-4147-A177-3AD203B41FA5}">
                      <a16:colId xmlns:a16="http://schemas.microsoft.com/office/drawing/2014/main" val="3683256941"/>
                    </a:ext>
                  </a:extLst>
                </a:gridCol>
                <a:gridCol w="1736227">
                  <a:extLst>
                    <a:ext uri="{9D8B030D-6E8A-4147-A177-3AD203B41FA5}">
                      <a16:colId xmlns:a16="http://schemas.microsoft.com/office/drawing/2014/main" val="3112816047"/>
                    </a:ext>
                  </a:extLst>
                </a:gridCol>
                <a:gridCol w="2007128">
                  <a:extLst>
                    <a:ext uri="{9D8B030D-6E8A-4147-A177-3AD203B41FA5}">
                      <a16:colId xmlns:a16="http://schemas.microsoft.com/office/drawing/2014/main" val="141866587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FractionalDate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UncorrectedCount</a:t>
                      </a:r>
                      <a:endParaRPr lang="th-TH" sz="28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Rate[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cts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/min]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CorrectedCount</a:t>
                      </a:r>
                      <a:endParaRPr lang="th-TH" sz="28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Rate[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cts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/min]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Pressure[mbar]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6377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1964-04-01T00:00:00Z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1964.24863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5589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1018.9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9623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1964-04-01T01:00:00Z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1964.24875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5610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1018.4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984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1964-04-01T02:00:00Z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1964.24886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5640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028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1964-04-01T03:00:00Z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1964.24898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5646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1017.6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9069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1964-04-01T04:00:00Z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1964.24909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5631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H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1017.4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770488"/>
                  </a:ext>
                </a:extLst>
              </a:tr>
            </a:tbl>
          </a:graphicData>
        </a:graphic>
      </p:graphicFrame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0B165B-E2AB-56A9-EAA4-83016D16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851" y="3289258"/>
            <a:ext cx="2572226" cy="24942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7E917A-879A-D658-AB4C-0AF5DFD22FC7}"/>
              </a:ext>
            </a:extLst>
          </p:cNvPr>
          <p:cNvSpPr txBox="1">
            <a:spLocks/>
          </p:cNvSpPr>
          <p:nvPr/>
        </p:nvSpPr>
        <p:spPr>
          <a:xfrm>
            <a:off x="9512300" y="2773619"/>
            <a:ext cx="5359400" cy="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เมื่อประมวลผลเสร็จ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EDA58-B6D1-EE91-8B56-408C4FE4EC61}"/>
              </a:ext>
            </a:extLst>
          </p:cNvPr>
          <p:cNvSpPr txBox="1"/>
          <p:nvPr/>
        </p:nvSpPr>
        <p:spPr>
          <a:xfrm>
            <a:off x="2467584" y="6538912"/>
            <a:ext cx="6143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https://cosmicrays.oulu.fi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4E4FC9-65F0-C340-AA4E-A4959A38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24975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DBA9-4021-A1DB-E75D-F3322F02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DF9C9-7520-2DDB-F71C-FDC1F670E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013" y="727710"/>
            <a:ext cx="5359400" cy="967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Index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05190-F052-8408-9FA6-EA502D1D6E3F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635F11-3682-1BAC-B609-236CA2CDE1DF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3893287" cy="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= AU – AL (</a:t>
            </a:r>
            <a:r>
              <a:rPr lang="en-US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nT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pic>
        <p:nvPicPr>
          <p:cNvPr id="9" name="Picture 8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202EDFB4-4485-516C-B95E-FA5BABEB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487" y="1479496"/>
            <a:ext cx="7108213" cy="44186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C2CC60-94D0-B1B4-0131-C02D4A45F428}"/>
              </a:ext>
            </a:extLst>
          </p:cNvPr>
          <p:cNvSpPr/>
          <p:nvPr/>
        </p:nvSpPr>
        <p:spPr>
          <a:xfrm>
            <a:off x="4572922" y="4706701"/>
            <a:ext cx="4206801" cy="12390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1D547FB-67A5-CF09-B830-EA257B028E74}"/>
              </a:ext>
            </a:extLst>
          </p:cNvPr>
          <p:cNvSpPr txBox="1">
            <a:spLocks/>
          </p:cNvSpPr>
          <p:nvPr/>
        </p:nvSpPr>
        <p:spPr>
          <a:xfrm>
            <a:off x="4232394" y="6102648"/>
            <a:ext cx="3893287" cy="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ข้อมูลทุกชั่วโมง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011C51F-08BD-E4D7-221F-B0DD812889F1}"/>
              </a:ext>
            </a:extLst>
          </p:cNvPr>
          <p:cNvSpPr txBox="1">
            <a:spLocks/>
          </p:cNvSpPr>
          <p:nvPr/>
        </p:nvSpPr>
        <p:spPr>
          <a:xfrm>
            <a:off x="440726" y="2349873"/>
            <a:ext cx="5359400" cy="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เมื่อประมวลผลเสร็จ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0" name="Picture 19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A34368A1-4786-98E4-19FF-E070822042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778"/>
          <a:stretch>
            <a:fillRect/>
          </a:stretch>
        </p:blipFill>
        <p:spPr>
          <a:xfrm>
            <a:off x="642020" y="2919458"/>
            <a:ext cx="3389080" cy="3436892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71673BAE-EEA3-2440-F58C-746CDBE4129E}"/>
              </a:ext>
            </a:extLst>
          </p:cNvPr>
          <p:cNvSpPr txBox="1">
            <a:spLocks/>
          </p:cNvSpPr>
          <p:nvPr/>
        </p:nvSpPr>
        <p:spPr>
          <a:xfrm>
            <a:off x="5769856" y="6035494"/>
            <a:ext cx="6019733" cy="457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wdc.kugi.kyoto-u.ac.jp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wdc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/Sec3.html</a:t>
            </a:r>
            <a:endParaRPr lang="en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780CC-D45C-38C2-66C5-DED5E666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18</a:t>
            </a:fld>
            <a:endParaRPr lang="en-TH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EFA981-748E-D31B-1106-DE79005A7637}"/>
              </a:ext>
            </a:extLst>
          </p:cNvPr>
          <p:cNvSpPr txBox="1">
            <a:spLocks/>
          </p:cNvSpPr>
          <p:nvPr/>
        </p:nvSpPr>
        <p:spPr>
          <a:xfrm>
            <a:off x="391933" y="1855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latin typeface="TH SarabunPSK" panose="020B0500040200020003" pitchFamily="34" charset="-34"/>
                <a:ea typeface="+mj-ea"/>
                <a:cs typeface="TH SarabunPSK" panose="020B0500040200020003" pitchFamily="34" charset="-34"/>
              </a:defRPr>
            </a:lvl1pPr>
          </a:lstStyle>
          <a:p>
            <a:r>
              <a:rPr lang="th-TH" sz="6000"/>
              <a:t>การวิเคราะห์ข้อมูล</a:t>
            </a:r>
            <a:endParaRPr lang="en-TH" sz="6000" dirty="0"/>
          </a:p>
        </p:txBody>
      </p:sp>
    </p:spTree>
    <p:extLst>
      <p:ext uri="{BB962C8B-B14F-4D97-AF65-F5344CB8AC3E}">
        <p14:creationId xmlns:p14="http://schemas.microsoft.com/office/powerpoint/2010/main" val="3810630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895B-41BE-09A1-FA7D-D3C5281D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7B8BC-2250-3E4B-D412-6B37C87A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013" y="727710"/>
            <a:ext cx="5359400" cy="967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Kp Index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1E135-B2CB-3C5A-8D85-46990A67E535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A7516D-15E7-5137-E2A8-BA54B80E8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180" y="3429000"/>
            <a:ext cx="7772400" cy="28595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53F5B7-D4D8-5BFB-099F-B796C1E5C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6336"/>
            <a:ext cx="10740048" cy="116935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2FE92C-527A-C14D-4B8A-259BD2960726}"/>
              </a:ext>
            </a:extLst>
          </p:cNvPr>
          <p:cNvSpPr txBox="1">
            <a:spLocks/>
          </p:cNvSpPr>
          <p:nvPr/>
        </p:nvSpPr>
        <p:spPr>
          <a:xfrm>
            <a:off x="4889799" y="1604614"/>
            <a:ext cx="7083845" cy="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00:00, 03:00, 06:00, 09:00, 12:00, …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70A23F-EECB-FAD5-239D-EFFA308B8404}"/>
              </a:ext>
            </a:extLst>
          </p:cNvPr>
          <p:cNvSpPr txBox="1">
            <a:spLocks/>
          </p:cNvSpPr>
          <p:nvPr/>
        </p:nvSpPr>
        <p:spPr>
          <a:xfrm>
            <a:off x="1147133" y="1617965"/>
            <a:ext cx="7083845" cy="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วันที่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4E6D437-36BD-EC43-C6E9-970E4719B5EC}"/>
              </a:ext>
            </a:extLst>
          </p:cNvPr>
          <p:cNvSpPr txBox="1">
            <a:spLocks/>
          </p:cNvSpPr>
          <p:nvPr/>
        </p:nvSpPr>
        <p:spPr>
          <a:xfrm>
            <a:off x="452893" y="4394615"/>
            <a:ext cx="3231211" cy="1582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เมื่อประมวลผลเสร็จ</a:t>
            </a:r>
            <a:endParaRPr lang="en-US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รวมข้อมูลทุกข้อมูล</a:t>
            </a:r>
            <a:endParaRPr lang="en-US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281C2F-EEC6-3876-BC71-84A776CD1C41}"/>
              </a:ext>
            </a:extLst>
          </p:cNvPr>
          <p:cNvSpPr txBox="1"/>
          <p:nvPr/>
        </p:nvSpPr>
        <p:spPr>
          <a:xfrm>
            <a:off x="5715256" y="1690219"/>
            <a:ext cx="6143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https://kp.gfz.de/en/data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5E4AC-55C5-9EF4-A1D4-CFA95174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19</a:t>
            </a:fld>
            <a:endParaRPr lang="en-TH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C918F18-0939-F790-8908-0EB3173AB28B}"/>
              </a:ext>
            </a:extLst>
          </p:cNvPr>
          <p:cNvSpPr txBox="1">
            <a:spLocks/>
          </p:cNvSpPr>
          <p:nvPr/>
        </p:nvSpPr>
        <p:spPr>
          <a:xfrm>
            <a:off x="391933" y="1855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latin typeface="TH SarabunPSK" panose="020B0500040200020003" pitchFamily="34" charset="-34"/>
                <a:ea typeface="+mj-ea"/>
                <a:cs typeface="TH SarabunPSK" panose="020B0500040200020003" pitchFamily="34" charset="-34"/>
              </a:defRPr>
            </a:lvl1pPr>
          </a:lstStyle>
          <a:p>
            <a:r>
              <a:rPr lang="th-TH" sz="6000"/>
              <a:t>การวิเคราะห์ข้อมูล</a:t>
            </a:r>
            <a:endParaRPr lang="en-TH" sz="6000" dirty="0"/>
          </a:p>
        </p:txBody>
      </p:sp>
    </p:spTree>
    <p:extLst>
      <p:ext uri="{BB962C8B-B14F-4D97-AF65-F5344CB8AC3E}">
        <p14:creationId xmlns:p14="http://schemas.microsoft.com/office/powerpoint/2010/main" val="2637084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F012-FF46-616C-C9C0-3530405A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9A97-D39E-47D8-5E49-3F3CF457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แสดงผลข้อมูล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D816D-2233-40F0-95B5-0AF5222C0654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5FD45F-AF3A-B740-280E-16CD9D232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27" y="4107157"/>
            <a:ext cx="5533417" cy="20750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15F0F6-14A2-0B8B-D5D0-4361DFEF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28" y="1353969"/>
            <a:ext cx="5533417" cy="20750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BE8310-AF27-F371-4DC5-CC6466779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049" y="1349500"/>
            <a:ext cx="5533417" cy="2075031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00B09EF-8841-C195-6124-D3F20178A219}"/>
              </a:ext>
            </a:extLst>
          </p:cNvPr>
          <p:cNvSpPr txBox="1">
            <a:spLocks/>
          </p:cNvSpPr>
          <p:nvPr/>
        </p:nvSpPr>
        <p:spPr>
          <a:xfrm>
            <a:off x="328534" y="3301844"/>
            <a:ext cx="5508000" cy="11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กราฟแสดงความสัมพันธ์ระหว่าง </a:t>
            </a: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Kp Index</a:t>
            </a: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และปีที่บันทึกข้อมูล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1" name="Picture 30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55899C15-F8A8-6FFB-8059-5D5C6F0BA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050" y="4107157"/>
            <a:ext cx="5533416" cy="207503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F01B2-24D4-EFA5-0D94-C46C5785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20</a:t>
            </a:fld>
            <a:endParaRPr lang="en-TH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8AB968-16CE-E766-DF38-106768455065}"/>
              </a:ext>
            </a:extLst>
          </p:cNvPr>
          <p:cNvSpPr txBox="1">
            <a:spLocks/>
          </p:cNvSpPr>
          <p:nvPr/>
        </p:nvSpPr>
        <p:spPr>
          <a:xfrm>
            <a:off x="298775" y="5849877"/>
            <a:ext cx="5508000" cy="11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กราฟแสดงความสัมพันธ์ระหว่างอัตราการนับนิวตรอนจาก </a:t>
            </a: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Thule </a:t>
            </a: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และปีที่บันทึกข้อมูล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7689B5-AFB0-DE31-A30D-F28B4A86C25C}"/>
              </a:ext>
            </a:extLst>
          </p:cNvPr>
          <p:cNvSpPr txBox="1">
            <a:spLocks/>
          </p:cNvSpPr>
          <p:nvPr/>
        </p:nvSpPr>
        <p:spPr>
          <a:xfrm>
            <a:off x="5730448" y="5803840"/>
            <a:ext cx="5508000" cy="11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กราฟแสดงความสัมพันธ์ระหว่างอัตราการนับนิวตรอนจาก </a:t>
            </a: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Oulu </a:t>
            </a: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และปีที่บันทึกข้อมูล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4D0E92-B5E3-4DA3-5691-59989C5B9A19}"/>
              </a:ext>
            </a:extLst>
          </p:cNvPr>
          <p:cNvSpPr txBox="1">
            <a:spLocks/>
          </p:cNvSpPr>
          <p:nvPr/>
        </p:nvSpPr>
        <p:spPr>
          <a:xfrm>
            <a:off x="6330051" y="3310783"/>
            <a:ext cx="5508000" cy="11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กราฟแสดงความสัมพันธ์ระหว่าง </a:t>
            </a: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AE Index</a:t>
            </a: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และปีที่บันทึกข้อมูล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8485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C92F-561B-0995-C66B-25381F95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แผนการทำโครงงาน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4F0064-05FA-9A91-261E-ABD2355146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558190"/>
              </p:ext>
            </p:extLst>
          </p:nvPr>
        </p:nvGraphicFramePr>
        <p:xfrm>
          <a:off x="349623" y="1462487"/>
          <a:ext cx="11492754" cy="4454400"/>
        </p:xfrm>
        <a:graphic>
          <a:graphicData uri="http://schemas.openxmlformats.org/drawingml/2006/table">
            <a:tbl>
              <a:tblPr bandRow="1"/>
              <a:tblGrid>
                <a:gridCol w="1014978">
                  <a:extLst>
                    <a:ext uri="{9D8B030D-6E8A-4147-A177-3AD203B41FA5}">
                      <a16:colId xmlns:a16="http://schemas.microsoft.com/office/drawing/2014/main" val="47134433"/>
                    </a:ext>
                  </a:extLst>
                </a:gridCol>
                <a:gridCol w="5402886">
                  <a:extLst>
                    <a:ext uri="{9D8B030D-6E8A-4147-A177-3AD203B41FA5}">
                      <a16:colId xmlns:a16="http://schemas.microsoft.com/office/drawing/2014/main" val="551269659"/>
                    </a:ext>
                  </a:extLst>
                </a:gridCol>
                <a:gridCol w="1014978">
                  <a:extLst>
                    <a:ext uri="{9D8B030D-6E8A-4147-A177-3AD203B41FA5}">
                      <a16:colId xmlns:a16="http://schemas.microsoft.com/office/drawing/2014/main" val="689945477"/>
                    </a:ext>
                  </a:extLst>
                </a:gridCol>
                <a:gridCol w="1014978">
                  <a:extLst>
                    <a:ext uri="{9D8B030D-6E8A-4147-A177-3AD203B41FA5}">
                      <a16:colId xmlns:a16="http://schemas.microsoft.com/office/drawing/2014/main" val="3208627964"/>
                    </a:ext>
                  </a:extLst>
                </a:gridCol>
                <a:gridCol w="1014978">
                  <a:extLst>
                    <a:ext uri="{9D8B030D-6E8A-4147-A177-3AD203B41FA5}">
                      <a16:colId xmlns:a16="http://schemas.microsoft.com/office/drawing/2014/main" val="2300372795"/>
                    </a:ext>
                  </a:extLst>
                </a:gridCol>
                <a:gridCol w="1014978">
                  <a:extLst>
                    <a:ext uri="{9D8B030D-6E8A-4147-A177-3AD203B41FA5}">
                      <a16:colId xmlns:a16="http://schemas.microsoft.com/office/drawing/2014/main" val="180866393"/>
                    </a:ext>
                  </a:extLst>
                </a:gridCol>
                <a:gridCol w="1014978">
                  <a:extLst>
                    <a:ext uri="{9D8B030D-6E8A-4147-A177-3AD203B41FA5}">
                      <a16:colId xmlns:a16="http://schemas.microsoft.com/office/drawing/2014/main" val="1236446034"/>
                    </a:ext>
                  </a:extLst>
                </a:gridCol>
              </a:tblGrid>
              <a:tr h="50400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กิจกรรมที่ทำ</a:t>
                      </a:r>
                      <a:r>
                        <a:rPr lang="en-US" sz="3200" dirty="0">
                          <a:solidFill>
                            <a:srgbClr val="FF00FF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ระยะเวลาปฏิบัติงาน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4630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en-TH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TH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พ</a:t>
                      </a:r>
                      <a:r>
                        <a:rPr lang="th-TH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th-TH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ค</a:t>
                      </a: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 68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มิ.ย</a:t>
                      </a: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 68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 dirty="0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ก.</a:t>
                      </a:r>
                      <a:r>
                        <a:rPr lang="th-TH" sz="3200" dirty="0" err="1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ค</a:t>
                      </a:r>
                      <a:r>
                        <a:rPr lang="en-US" sz="3200" dirty="0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 68</a:t>
                      </a:r>
                      <a:endParaRPr lang="en-TH" sz="3200" dirty="0">
                        <a:solidFill>
                          <a:schemeClr val="accent5"/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ส.ค</a:t>
                      </a: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 68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ก</a:t>
                      </a: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th-TH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ย</a:t>
                      </a: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. 68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53461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1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สืบค้นข้อมูล ศึกษาเกี่ยวกับกิจกรรมของดวงอาทิตย์และอัตราการนับของนิวตรอน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solidFill>
                          <a:schemeClr val="accent5"/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82439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2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เขียนโปรแกรมเพื่อศึกษาแนวโน้มและความสัมพันธ์ระหว่าง</a:t>
                      </a: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Kp</a:t>
                      </a: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 index, AE index </a:t>
                      </a:r>
                      <a:r>
                        <a:rPr lang="th-TH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และอัตราการนับของนิวตรอน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solidFill>
                          <a:schemeClr val="accent5"/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552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3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วิเคราะห์และอภิปรายผลที่ได้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solidFill>
                          <a:schemeClr val="accent5"/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66332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4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th-TH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เขียนสรุปและจัดทำรายงานโครงงาน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accent5"/>
                          </a:solidFill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solidFill>
                          <a:schemeClr val="accent5"/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  <a:latin typeface="TH SarabunPSK" panose="020B0500040200020003" pitchFamily="34" charset="-34"/>
                          <a:ea typeface="Sarabun" pitchFamily="2" charset="-34"/>
                          <a:cs typeface="TH SarabunPSK" panose="020B0500040200020003" pitchFamily="34" charset="-34"/>
                        </a:rPr>
                        <a:t> </a:t>
                      </a:r>
                      <a:endParaRPr lang="en-TH" sz="32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591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F1C90B7-4595-00DF-EF0E-8E5B08F3EA9F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FE008-4877-7BA1-33BA-C0B8C75E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96542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59E3-3C9B-A1CC-67A6-40CBE3A2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ประโยชน์ที่คาดว่าจะได้รับ</a:t>
            </a:r>
            <a:endParaRPr lang="en-TH" sz="6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FA64E-7CD2-4FC6-0FEF-8E1261FA5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</a:t>
            </a:r>
            <a:r>
              <a:rPr lang="th-TH" sz="40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อธิบายความสัมพันธ์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ทางอ้อมของการปลดปล่อยจากดวงอาทิตย์ต่อความสัมพันธ์ของ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อัตราการนับของนิวตรอนและดัชนีออโรราได้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สามารถสร้างแบบจำลองเพื่อ</a:t>
            </a:r>
            <a:r>
              <a:rPr lang="th-TH" sz="40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ทำนายแนวโน้ม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ของความสัมพันธ์ระหว่าง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AE Index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Kp Index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กับอัตราการการนับของนิวตรอนได้ และเพื่อทำนายเหตุการณ์ที่เกี่ยวข้องกับ</a:t>
            </a:r>
            <a:r>
              <a:rPr lang="th-TH" sz="400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กิจกรรมของดวงอาทิตย์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ในอนาคตได้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7F7CD-AB01-4ED1-6EF8-F4E56D4B4CEE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E0983-5DF8-2AA9-0321-961EDEB5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26134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9679-7C42-3D3D-646C-7E432A34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สิ่งที่ต้องการต่อยอด</a:t>
            </a:r>
            <a:endParaRPr lang="en-T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43DA79-6245-C717-C014-08ED4FBF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th-TH" dirty="0"/>
              <a:t>วิเคราะห์ข้อมูลนอกเหนือจาก </a:t>
            </a:r>
            <a:r>
              <a:rPr lang="en-US" dirty="0"/>
              <a:t>AE Index </a:t>
            </a:r>
            <a:r>
              <a:rPr lang="th-TH" dirty="0"/>
              <a:t>และ</a:t>
            </a:r>
            <a:r>
              <a:rPr lang="en-US" dirty="0"/>
              <a:t> Kp Index</a:t>
            </a:r>
            <a:r>
              <a:rPr lang="th-TH" dirty="0"/>
              <a:t> เช่น </a:t>
            </a:r>
            <a:r>
              <a:rPr lang="en-TH" dirty="0"/>
              <a:t>(Dst, SSN, F10.7)</a:t>
            </a:r>
            <a:endParaRPr lang="en-TH" u="sng" dirty="0"/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คำนวณความสัมพันธ์</a:t>
            </a:r>
            <a:r>
              <a:rPr lang="en-US" dirty="0"/>
              <a:t> correlations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เปรียบเทียบและสร้างโมเดลเพื่อ</a:t>
            </a:r>
            <a:r>
              <a:rPr lang="th-TH" dirty="0" err="1"/>
              <a:t>การทำ</a:t>
            </a:r>
            <a:r>
              <a:rPr lang="th-TH" dirty="0"/>
              <a:t>นาย</a:t>
            </a:r>
            <a:endParaRPr lang="en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F2C28-CAC6-8F5F-A6AE-CD7A004A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16633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B7B0-B226-E790-4D65-20CFBE3C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บรรณานุกรม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1ED3-AE43-740B-CEFD-38E5D8C7F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694"/>
            <a:ext cx="10515600" cy="5251773"/>
          </a:xfrm>
        </p:spPr>
        <p:txBody>
          <a:bodyPr>
            <a:noAutofit/>
          </a:bodyPr>
          <a:lstStyle/>
          <a:p>
            <a:pPr marL="27051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Kauristie, K., Tanskanen, E. I., Lappalainen, K., et al. (2017).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Geomagnetic indices and their</a:t>
            </a:r>
            <a:r>
              <a:rPr lang="th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applications. 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Space Weather and Space Climate, EGU.</a:t>
            </a:r>
            <a:endParaRPr lang="en-TH" sz="18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 marL="27051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Kisvárdai, Z., Štempel, J., Randuška, M., Pišútová, N., &amp; Ganeva, M. (2025).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Analysis of 42 Years of Cosmic Ray Measurements by the Neutron Monitor at Lomnický štít Observatory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. arXiv. https://arxiv.org/abs/2502.09627</a:t>
            </a:r>
            <a:endParaRPr lang="en-TH" sz="18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 marL="27051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Mangeard, P. S., Clem, J. M., Evenson, P. A., &amp; Munakata, K. (2016).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Modeling the response of neutron monitors to high-energy cosmic rays.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 Journal of Geophysical Research: Space Physics, 121(6), 5936–5950. </a:t>
            </a:r>
            <a:r>
              <a:rPr lang="en-US" sz="1800" u="sng" dirty="0">
                <a:solidFill>
                  <a:srgbClr val="0000FF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  <a:hlinkClick r:id="rId2"/>
              </a:rPr>
              <a:t>https://doi.org/10.1002/2016JA022638</a:t>
            </a:r>
            <a:endParaRPr lang="en-TH" sz="18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 marL="27051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Matzka, J., Stolle, C., Yamazaki, Y., Bronkalla, O. and Morschhauser, A., 2021.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The geomagnetic Kp index and derived indices of geomagnetic activity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. Space Weather,</a:t>
            </a:r>
            <a:r>
              <a:rPr lang="th-TH" sz="1800" dirty="0"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 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https://doi.org/10.1029/2020SW002641 </a:t>
            </a:r>
            <a:endParaRPr lang="en-TH" sz="18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 marL="27051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Okpala, K. C., Akinrimisi, J., &amp; Oladosu, A. (2015).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Galactic Cosmic Ray Variability at Two Neutron Monitors: Relation to Kp Index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. International Scholarly Research Notices, 2015, Article ID 961358. 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  <a:hlinkClick r:id="rId3"/>
              </a:rPr>
              <a:t>https://doi.org/10.1155/2015/961358</a:t>
            </a:r>
            <a:endParaRPr lang="th-TH" sz="1800" dirty="0">
              <a:solidFill>
                <a:srgbClr val="000000"/>
              </a:solidFill>
              <a:effectLst/>
              <a:latin typeface="TH SarabunPSK" panose="020B0500040200020003" pitchFamily="34" charset="-34"/>
              <a:ea typeface="Sarabun" pitchFamily="2" charset="-34"/>
              <a:cs typeface="TH SarabunPSK" panose="020B0500040200020003" pitchFamily="34" charset="-34"/>
            </a:endParaRPr>
          </a:p>
          <a:p>
            <a:pPr marL="27051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 Usoskin, I. G., Koldobskiy, S. A., &amp; Gil, A. (</a:t>
            </a:r>
            <a:r>
              <a:rPr lang="th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2017). </a:t>
            </a:r>
            <a:r>
              <a:rPr lang="en-TH" sz="1800" i="1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Cosmic ray-induced ionization in the atmosphere: spatial and temporal changes.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 Journal of Space Weather and Space Climate, </a:t>
            </a:r>
            <a:r>
              <a:rPr lang="th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7</a:t>
            </a:r>
            <a:r>
              <a:rPr lang="en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, A</a:t>
            </a:r>
            <a:r>
              <a:rPr lang="th-TH" sz="180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</a:rPr>
              <a:t>17. </a:t>
            </a:r>
            <a:r>
              <a:rPr lang="en-US" sz="1800" u="sng" dirty="0">
                <a:solidFill>
                  <a:srgbClr val="0000FF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  <a:hlinkClick r:id="rId4"/>
              </a:rPr>
              <a:t>https://doi.org/</a:t>
            </a:r>
            <a:r>
              <a:rPr lang="th-TH" sz="1800" u="sng" dirty="0">
                <a:solidFill>
                  <a:srgbClr val="0000FF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  <a:hlinkClick r:id="rId4"/>
              </a:rPr>
              <a:t>10.1051/</a:t>
            </a:r>
            <a:r>
              <a:rPr lang="en-US" sz="1800" u="sng" dirty="0">
                <a:solidFill>
                  <a:srgbClr val="0000FF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  <a:hlinkClick r:id="rId4"/>
              </a:rPr>
              <a:t>swsc/</a:t>
            </a:r>
            <a:r>
              <a:rPr lang="th-TH" sz="1800" u="sng" dirty="0">
                <a:solidFill>
                  <a:srgbClr val="0000FF"/>
                </a:solidFill>
                <a:effectLst/>
                <a:latin typeface="TH SarabunPSK" panose="020B0500040200020003" pitchFamily="34" charset="-34"/>
                <a:ea typeface="Sarabun" pitchFamily="2" charset="-34"/>
                <a:cs typeface="TH SarabunPSK" panose="020B0500040200020003" pitchFamily="34" charset="-34"/>
                <a:hlinkClick r:id="rId4"/>
              </a:rPr>
              <a:t>2017015</a:t>
            </a:r>
            <a:endParaRPr lang="en-TH" sz="1800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388AE-5520-EE96-3DC5-4400A4C356C1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27E78-7834-3BDE-B96A-191299DD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46900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5CCB-597C-1A65-D5CC-8E9F45E7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52CD-9E23-D675-E854-C9DE9B4BF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171" y="775223"/>
            <a:ext cx="11121655" cy="3024335"/>
          </a:xfrm>
        </p:spPr>
        <p:txBody>
          <a:bodyPr anchor="ctr">
            <a:noAutofit/>
          </a:bodyPr>
          <a:lstStyle/>
          <a:p>
            <a:r>
              <a:rPr lang="en-US" sz="7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Investigation of Correlation between Aurora Indexes and Neutron Monitor Count Rate </a:t>
            </a:r>
            <a:endParaRPr lang="en-TH" sz="7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A0D08-F8C5-F76C-0E04-3A8A3735E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907366"/>
            <a:ext cx="9144000" cy="2693736"/>
          </a:xfrm>
        </p:spPr>
        <p:txBody>
          <a:bodyPr>
            <a:noAutofit/>
          </a:bodyPr>
          <a:lstStyle/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นางสาวณ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ัฏฐ์ฎา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 ทองพันธ์ ชั้น 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.6/6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เลขประจำตัวนักเรียน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08939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อาจารย์ปราณี ดิษรัฐกิจ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อาจารย์เกล็ดทราย ภูผาคุณ</a:t>
            </a:r>
          </a:p>
          <a:p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อาจารย์กมลพร กันทะวง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ค์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200" b="1" dirty="0"/>
              <a:t>Thank you for listening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ED586-43C1-1CE2-041B-4EE69F4AA406}"/>
              </a:ext>
            </a:extLst>
          </p:cNvPr>
          <p:cNvSpPr txBox="1"/>
          <p:nvPr/>
        </p:nvSpPr>
        <p:spPr>
          <a:xfrm>
            <a:off x="0" y="-8965"/>
            <a:ext cx="36665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33E-PH03-01</a:t>
            </a:r>
          </a:p>
        </p:txBody>
      </p:sp>
    </p:spTree>
    <p:extLst>
      <p:ext uri="{BB962C8B-B14F-4D97-AF65-F5344CB8AC3E}">
        <p14:creationId xmlns:p14="http://schemas.microsoft.com/office/powerpoint/2010/main" val="73374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919A-7D32-DA7F-37A4-FEED9FE8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35FB-480A-467C-E01D-648B61F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H" dirty="0"/>
              <a:t>Heliosphere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4A372D-D5F6-0904-C5C4-DECDC69C6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686476"/>
            <a:ext cx="3421644" cy="4606921"/>
          </a:xfrm>
        </p:spPr>
        <p:txBody>
          <a:bodyPr/>
          <a:lstStyle/>
          <a:p>
            <a:endParaRPr lang="en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8F5FE-4580-2073-2381-CC406EC6493E}"/>
              </a:ext>
            </a:extLst>
          </p:cNvPr>
          <p:cNvSpPr txBox="1"/>
          <p:nvPr/>
        </p:nvSpPr>
        <p:spPr>
          <a:xfrm>
            <a:off x="304893" y="6361435"/>
            <a:ext cx="8685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NASA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2018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GB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124" name="Picture 4" descr="The Heliosphere">
            <a:extLst>
              <a:ext uri="{FF2B5EF4-FFF2-40B4-BE49-F238E27FC236}">
                <a16:creationId xmlns:a16="http://schemas.microsoft.com/office/drawing/2014/main" id="{99027962-AC6B-3B09-320D-41EA4E78F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94" y="1600340"/>
            <a:ext cx="6973737" cy="470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0F4EF82-E779-85AB-AE58-2B084A4A4B0A}"/>
              </a:ext>
            </a:extLst>
          </p:cNvPr>
          <p:cNvSpPr txBox="1">
            <a:spLocks/>
          </p:cNvSpPr>
          <p:nvPr/>
        </p:nvSpPr>
        <p:spPr>
          <a:xfrm>
            <a:off x="7682293" y="1600340"/>
            <a:ext cx="3421644" cy="4606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</a:t>
            </a:r>
            <a:r>
              <a:rPr lang="en-TH" dirty="0"/>
              <a:t>iant magnetic shield surrounding solar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E0267-2CC7-8BC4-4ACA-16F7A532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13058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D8D5-3D1F-AA03-1E4C-577AF3FB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90DA-6977-1F44-BAB9-9F0EF629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14" y="354869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OULU Specifications </a:t>
            </a:r>
            <a:b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Sodankyla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Geophysical Observatory of the University of Oulu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F1516-7BE4-7984-EBC0-D598BFA72C9E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DAC56B2-4207-4B44-6BD1-503CCB8F0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846" y="1830901"/>
            <a:ext cx="3728009" cy="27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D1FE68A-CD59-997A-CF45-99294CB8E36E}"/>
              </a:ext>
            </a:extLst>
          </p:cNvPr>
          <p:cNvSpPr txBox="1">
            <a:spLocks/>
          </p:cNvSpPr>
          <p:nvPr/>
        </p:nvSpPr>
        <p:spPr>
          <a:xfrm>
            <a:off x="6909845" y="4626908"/>
            <a:ext cx="4480644" cy="637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www.nmdb.eu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/station/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oulu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/#specifications</a:t>
            </a:r>
            <a:endParaRPr lang="en-TH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240871-8374-C553-BD0E-2B8596285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416464"/>
              </p:ext>
            </p:extLst>
          </p:nvPr>
        </p:nvGraphicFramePr>
        <p:xfrm>
          <a:off x="481914" y="1680432"/>
          <a:ext cx="6016012" cy="5070380"/>
        </p:xfrm>
        <a:graphic>
          <a:graphicData uri="http://schemas.openxmlformats.org/drawingml/2006/table">
            <a:tbl>
              <a:tblPr/>
              <a:tblGrid>
                <a:gridCol w="3207038">
                  <a:extLst>
                    <a:ext uri="{9D8B030D-6E8A-4147-A177-3AD203B41FA5}">
                      <a16:colId xmlns:a16="http://schemas.microsoft.com/office/drawing/2014/main" val="1172975207"/>
                    </a:ext>
                  </a:extLst>
                </a:gridCol>
                <a:gridCol w="2808974">
                  <a:extLst>
                    <a:ext uri="{9D8B030D-6E8A-4147-A177-3AD203B41FA5}">
                      <a16:colId xmlns:a16="http://schemas.microsoft.com/office/drawing/2014/main" val="225025252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Detector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9-NM-64 (Chalk River tubes)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9475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Geographic latitude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65.05° N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182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Geographic longitude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25.47° E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9323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Altitude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15 m asl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7746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Effective vertical cutoff rigidity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~0.8 GV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1026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 operation since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April 1964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16342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 resolution: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1-hr - since 1964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5386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endParaRPr lang="en-TH" sz="240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5-min - since 1985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97846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endParaRPr lang="en-TH" sz="240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1-min - since 1995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99507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fontAlgn="t"/>
                      <a:endParaRPr lang="en-TH" sz="240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10-sec - 1995-2008</a:t>
                      </a:r>
                    </a:p>
                  </a:txBody>
                  <a:tcPr marL="70639" marR="70639" marT="70639" marB="70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84637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C0389-ECCE-29E2-FA73-C0F75AAB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37804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C6C3-6870-10A8-BA2A-4E6CCFC2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9152C-9BDA-41DC-827A-F4D8CA30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Averaging data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E5E1D-B847-CFB6-0CA6-66913D7EEA03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pic>
        <p:nvPicPr>
          <p:cNvPr id="3" name="Picture 2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FDE81DDC-CD3E-134B-9BE4-A7DE5AA0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52" y="3484201"/>
            <a:ext cx="6847648" cy="2567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729DF9-2C81-6227-0D78-EEB1AA0D1ECE}"/>
              </a:ext>
            </a:extLst>
          </p:cNvPr>
          <p:cNvSpPr txBox="1"/>
          <p:nvPr/>
        </p:nvSpPr>
        <p:spPr>
          <a:xfrm>
            <a:off x="4925252" y="3359503"/>
            <a:ext cx="3503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</a:t>
            </a:r>
            <a:r>
              <a:rPr lang="en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roup size = 1,000</a:t>
            </a:r>
          </a:p>
        </p:txBody>
      </p:sp>
      <p:pic>
        <p:nvPicPr>
          <p:cNvPr id="12" name="Picture 11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9165EB51-6CAA-EFA7-FE12-54F7AA8C2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252" y="765947"/>
            <a:ext cx="6847648" cy="25678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2349E2-5EB9-72F0-5EA2-0D9379DC1A8E}"/>
              </a:ext>
            </a:extLst>
          </p:cNvPr>
          <p:cNvSpPr txBox="1"/>
          <p:nvPr/>
        </p:nvSpPr>
        <p:spPr>
          <a:xfrm>
            <a:off x="4925252" y="636897"/>
            <a:ext cx="3503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</a:t>
            </a:r>
            <a:r>
              <a:rPr lang="en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roup size = 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62681-BB97-C4B4-A773-FAD0EBF3ECF4}"/>
              </a:ext>
            </a:extLst>
          </p:cNvPr>
          <p:cNvSpPr txBox="1"/>
          <p:nvPr/>
        </p:nvSpPr>
        <p:spPr>
          <a:xfrm>
            <a:off x="342900" y="1536174"/>
            <a:ext cx="45061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แบ่งข้อมูลเป็นกลุ่ม </a:t>
            </a:r>
            <a:endParaRPr lang="en-US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กลุ่มละ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... 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ในแต่ละกลุ่ม หาค่าเฉลี่ย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เอาเวลาของค่าตรงกลางเป็นตัวแทนของกลุ่มเพื่อ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plot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graph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1784E-B2D0-D7F2-2F90-DBBC91BA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45250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13A4D-FFBA-112C-9249-A27FA089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2560-5A4E-986A-0EEE-5EE9BA82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Neutron Monitor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62249-2850-C198-DEA6-1EFA36196978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24626-86C3-00CF-AEF0-C4310739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29</a:t>
            </a:fld>
            <a:endParaRPr lang="en-TH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B60872D-A825-002D-BC3C-B75427DEB7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95" y="1996124"/>
            <a:ext cx="5549318" cy="330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6338A-66A4-8738-78FB-3D127DB0BD8B}"/>
              </a:ext>
            </a:extLst>
          </p:cNvPr>
          <p:cNvSpPr txBox="1"/>
          <p:nvPr/>
        </p:nvSpPr>
        <p:spPr>
          <a:xfrm>
            <a:off x="458694" y="6155065"/>
            <a:ext cx="4034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(Bütikofer, Rolf, 2018)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DE3CA4A-2AEB-F7A5-8921-ADF04BED31A5}"/>
              </a:ext>
            </a:extLst>
          </p:cNvPr>
          <p:cNvSpPr txBox="1">
            <a:spLocks/>
          </p:cNvSpPr>
          <p:nvPr/>
        </p:nvSpPr>
        <p:spPr>
          <a:xfrm>
            <a:off x="6311899" y="1612608"/>
            <a:ext cx="5421405" cy="4804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นิวตรอนพลังงานสูงถูกเด้งออกจาก 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reflector</a:t>
            </a:r>
            <a:endParaRPr lang="th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นิวตรอนพลังงานต่ำชนกับตะกั่ว ผ่าน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moderator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เพื่อชะลอความเร็ว </a:t>
            </a:r>
          </a:p>
          <a:p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Proportional counter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ตรวจวัดนิวตรอน และส่งสัญญาณไฟฟ้า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2A2B2FF-D093-62BD-15B6-80E2691D8958}"/>
              </a:ext>
            </a:extLst>
          </p:cNvPr>
          <p:cNvSpPr txBox="1">
            <a:spLocks/>
          </p:cNvSpPr>
          <p:nvPr/>
        </p:nvSpPr>
        <p:spPr>
          <a:xfrm>
            <a:off x="458694" y="5409278"/>
            <a:ext cx="5421405" cy="876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6-NM64 Neutron Monitor </a:t>
            </a:r>
            <a:endParaRPr lang="en-TH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68661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5AF0-0482-5CE4-98D3-4EBD6A53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0039-57AD-4E93-B50B-22C3696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Neutron Corrected Data</a:t>
            </a:r>
            <a:endParaRPr lang="en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A573B-CBD2-616E-B752-5A53254652D2}"/>
              </a:ext>
            </a:extLst>
          </p:cNvPr>
          <p:cNvSpPr txBox="1"/>
          <p:nvPr/>
        </p:nvSpPr>
        <p:spPr>
          <a:xfrm>
            <a:off x="7013713" y="0"/>
            <a:ext cx="517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รหัสโครงงาน </a:t>
            </a:r>
            <a:r>
              <a:rPr lang="en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33EPH03-01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1CDB0-78B4-601D-175C-888C4819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EA7D2-2289-E94A-8339-76C1D6DA463F}" type="slidenum">
              <a:rPr lang="en-TH" smtClean="0"/>
              <a:t>30</a:t>
            </a:fld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86101-02FA-353F-400A-A2E916CFC4D9}"/>
              </a:ext>
            </a:extLst>
          </p:cNvPr>
          <p:cNvSpPr txBox="1"/>
          <p:nvPr/>
        </p:nvSpPr>
        <p:spPr>
          <a:xfrm>
            <a:off x="458694" y="6155065"/>
            <a:ext cx="6891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(IGY and IQSY instructions (International Geophysical Year))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F3162121-DBCE-019A-60AE-65E042ECE8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3849" y="1612608"/>
                <a:ext cx="10749456" cy="48040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h-TH" sz="4000" i="1" smtClean="0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𝑁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𝑐𝑜𝑟𝑟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  <a:cs typeface="TH SarabunPSK" panose="020B0500040200020003" pitchFamily="34" charset="-34"/>
                      </a:rPr>
                      <m:t>=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𝑁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𝑟𝑎𝑤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PSK" panose="020B0500040200020003" pitchFamily="34" charset="-34"/>
                      </a:rPr>
                      <m:t>×</m:t>
                    </m:r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𝑒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𝛽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(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𝑃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−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H SarabunPSK" panose="020B0500040200020003" pitchFamily="34" charset="-34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H SarabunPSK" panose="020B0500040200020003" pitchFamily="34" charset="-34"/>
                              </a:rPr>
                              <m:t>𝑃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H SarabunPSK" panose="020B0500040200020003" pitchFamily="34" charset="-34"/>
                              </a:rPr>
                              <m:t>0</m:t>
                            </m:r>
                          </m:sub>
                        </m:sSub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)</m:t>
                        </m:r>
                      </m:sup>
                    </m:sSup>
                  </m:oMath>
                </a14:m>
                <a:endParaRPr lang="th-TH" sz="40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</mc:Choice>
        <mc:Fallback xmlns=""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F3162121-DBCE-019A-60AE-65E042EC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49" y="1612608"/>
                <a:ext cx="10749456" cy="4804068"/>
              </a:xfrm>
              <a:prstGeom prst="rect">
                <a:avLst/>
              </a:prstGeom>
              <a:blipFill>
                <a:blip r:embed="rId2"/>
                <a:stretch>
                  <a:fillRect l="-1887" t="-792"/>
                </a:stretch>
              </a:blipFill>
            </p:spPr>
            <p:txBody>
              <a:bodyPr/>
              <a:lstStyle/>
              <a:p>
                <a:r>
                  <a:rPr lang="en-T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68E584-DBC7-F7E7-AC4C-9B338A095D3E}"/>
                  </a:ext>
                </a:extLst>
              </p:cNvPr>
              <p:cNvSpPr txBox="1"/>
              <p:nvPr/>
            </p:nvSpPr>
            <p:spPr>
              <a:xfrm>
                <a:off x="867556" y="2603014"/>
                <a:ext cx="922556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𝑁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𝑟𝑎𝑤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  <a:cs typeface="TH SarabunPSK" panose="020B0500040200020003" pitchFamily="34" charset="-34"/>
                      </a:rPr>
                      <m:t> </m:t>
                    </m:r>
                  </m:oMath>
                </a14:m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ค่าที่วัดได้จริง (</a:t>
                </a:r>
                <a:r>
                  <a:rPr lang="en-US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uncorrected count rate)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h-TH" sz="3600" i="1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𝑁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cs typeface="TH SarabunPSK" panose="020B0500040200020003" pitchFamily="34" charset="-34"/>
                          </a:rPr>
                          <m:t>𝑐𝑜𝑟𝑟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  <a:cs typeface="TH SarabunPSK" panose="020B0500040200020003" pitchFamily="34" charset="-34"/>
                      </a:rPr>
                      <m:t> </m:t>
                    </m:r>
                  </m:oMath>
                </a14:m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ค่าที่ปรับแล้ว (</a:t>
                </a:r>
                <a:r>
                  <a:rPr lang="en-US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corrected count rate)</a:t>
                </a:r>
              </a:p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PSK" panose="020B0500040200020003" pitchFamily="34" charset="-34"/>
                      </a:rPr>
                      <m:t>𝑃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PSK" panose="020B0500040200020003" pitchFamily="34" charset="-34"/>
                      </a:rPr>
                      <m:t> </m:t>
                    </m:r>
                  </m:oMath>
                </a14:m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ความดันบรรยากาศตอนวัด (</a:t>
                </a:r>
                <a:r>
                  <a:rPr lang="en-US" sz="3600" dirty="0" err="1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hPa</a:t>
                </a:r>
                <a:r>
                  <a:rPr lang="en-US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 </a:t>
                </a:r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หรือ </a:t>
                </a:r>
                <a:r>
                  <a:rPr lang="en-US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mb)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𝑃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PSK" panose="020B0500040200020003" pitchFamily="34" charset="-34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PSK" panose="020B0500040200020003" pitchFamily="34" charset="-34"/>
                      </a:rPr>
                      <m:t> </m:t>
                    </m:r>
                  </m:oMath>
                </a14:m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ความดันอ้างอิง (เช่น ค่ามาตรฐานประจำสถานี)</a:t>
                </a:r>
              </a:p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PSK" panose="020B0500040200020003" pitchFamily="34" charset="-34"/>
                      </a:rPr>
                      <m:t>𝛽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PSK" panose="020B0500040200020003" pitchFamily="34" charset="-34"/>
                      </a:rPr>
                      <m:t> </m:t>
                    </m:r>
                  </m:oMath>
                </a14:m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ค่าความไวต่อความดัน (</a:t>
                </a:r>
                <a:r>
                  <a:rPr lang="en-US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pressure coefficient), </a:t>
                </a:r>
                <a:r>
                  <a:rPr lang="th-TH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หน่วย </a:t>
                </a:r>
                <a:r>
                  <a:rPr lang="en-US" sz="3600" dirty="0"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hPa-1</a:t>
                </a:r>
                <a:endParaRPr lang="th-TH" sz="36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68E584-DBC7-F7E7-AC4C-9B338A095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56" y="2603014"/>
                <a:ext cx="9225568" cy="2862322"/>
              </a:xfrm>
              <a:prstGeom prst="rect">
                <a:avLst/>
              </a:prstGeom>
              <a:blipFill>
                <a:blip r:embed="rId3"/>
                <a:stretch>
                  <a:fillRect l="-1376" t="-2203" b="-7930"/>
                </a:stretch>
              </a:blipFill>
            </p:spPr>
            <p:txBody>
              <a:bodyPr/>
              <a:lstStyle/>
              <a:p>
                <a:r>
                  <a:rPr lang="en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693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13799</TotalTime>
  <Words>2073</Words>
  <Application>Microsoft Macintosh PowerPoint</Application>
  <PresentationFormat>Widescreen</PresentationFormat>
  <Paragraphs>325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Courier New</vt:lpstr>
      <vt:lpstr>TH SarabunPSK</vt:lpstr>
      <vt:lpstr>Office Theme</vt:lpstr>
      <vt:lpstr>Investigation of Correlation between Aurora Indexes and Neutron Monitor Count Rate </vt:lpstr>
      <vt:lpstr>เนื้อหาในการนำเสนอ</vt:lpstr>
      <vt:lpstr>ที่มาและความสำคัญ</vt:lpstr>
      <vt:lpstr>Galactic Cosmic Rays (GCRs) คืออะไร?</vt:lpstr>
      <vt:lpstr>Galactic Cosmic Rays (GCRs) คืออะไร?</vt:lpstr>
      <vt:lpstr>Neutron Count Rate (NCR) is?</vt:lpstr>
      <vt:lpstr>การเกิดออโรรา</vt:lpstr>
      <vt:lpstr>การเกิดออโรรา</vt:lpstr>
      <vt:lpstr>Solar and Geomagnetic Indices</vt:lpstr>
      <vt:lpstr>Solar and Geomagnetic Indices</vt:lpstr>
      <vt:lpstr>Solar and Geomagnetic Indices</vt:lpstr>
      <vt:lpstr>งานวิจัยที่เกี่ยวข้อง</vt:lpstr>
      <vt:lpstr>PowerPoint Presentation</vt:lpstr>
      <vt:lpstr>PowerPoint Presentation</vt:lpstr>
      <vt:lpstr>ขั้นตอนการดำเนินการ</vt:lpstr>
      <vt:lpstr>ขั้นตอนการดำเนินการ</vt:lpstr>
      <vt:lpstr>การวิเคราะห์ข้อมูล</vt:lpstr>
      <vt:lpstr>PowerPoint Presentation</vt:lpstr>
      <vt:lpstr>PowerPoint Presentation</vt:lpstr>
      <vt:lpstr>แสดงผลข้อมูล</vt:lpstr>
      <vt:lpstr>แผนการทำโครงงาน</vt:lpstr>
      <vt:lpstr>ประโยชน์ที่คาดว่าจะได้รับ</vt:lpstr>
      <vt:lpstr>สิ่งที่ต้องการต่อยอด</vt:lpstr>
      <vt:lpstr>บรรณานุกรม</vt:lpstr>
      <vt:lpstr>Investigation of Correlation between Aurora Indexes and Neutron Monitor Count Rate </vt:lpstr>
      <vt:lpstr>Heliosphere</vt:lpstr>
      <vt:lpstr>OULU Specifications  Sodankyla Geophysical Observatory of the University of Oulu</vt:lpstr>
      <vt:lpstr>Averaging data</vt:lpstr>
      <vt:lpstr>Neutron Monitor</vt:lpstr>
      <vt:lpstr>Neutron Corrected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Natdaporn Thongphan</dc:creator>
  <cp:lastModifiedBy>Natdaporn Thongphan</cp:lastModifiedBy>
  <cp:revision>1</cp:revision>
  <dcterms:created xsi:type="dcterms:W3CDTF">2025-07-17T05:18:13Z</dcterms:created>
  <dcterms:modified xsi:type="dcterms:W3CDTF">2025-09-26T07:44:57Z</dcterms:modified>
</cp:coreProperties>
</file>